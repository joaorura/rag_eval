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645920"/>
            <a:ext cx="10362895" cy="3840480"/>
          </a:xfrm>
          <a:prstGeom prst="rect">
            <a:avLst/>
          </a:prstGeom>
          <a:noFill/>
        </p:spPr>
        <p:txBody>
          <a:bodyPr wrap="square">
            <a:spAutoFit/>
          </a:bodyPr>
          <a:lstStyle/>
          <a:p>
            <a:pPr>
              <a:defRPr sz="3000" b="1">
                <a:solidFill>
                  <a:srgbClr val="1A365D"/>
                </a:solidFill>
              </a:defRPr>
            </a:pPr>
            <a:r>
              <a:t>Avaliação Científica e Tecnológica de RAG Industrial</a:t>
            </a:r>
            <a:br/>
            <a:r>
              <a:t>(Retrieval &amp; Re-ranking)</a:t>
            </a:r>
          </a:p>
          <a:p>
            <a:pPr>
              <a:spcBef>
                <a:spcPts val="1600"/>
              </a:spcBef>
              <a:defRPr sz="1700" b="1">
                <a:solidFill>
                  <a:srgbClr val="2B6CB0"/>
                </a:solidFill>
              </a:defRPr>
            </a:pPr>
            <a:r>
              <a:t>Soberania de Dados e Alta Precisão em Manuais Técnicos com Modelos Locais Quantizados</a:t>
            </a:r>
          </a:p>
          <a:p>
            <a:pPr>
              <a:spcBef>
                <a:spcPts val="2800"/>
              </a:spcBef>
              <a:defRPr sz="1200">
                <a:solidFill>
                  <a:srgbClr val="718096"/>
                </a:solidFill>
              </a:defRPr>
            </a:pPr>
            <a:r>
              <a:t>Autor: João Messias Lima Pereira  |  Projeto de Pesquisa Científica e Tecnológica (ICT)</a:t>
            </a:r>
            <a:br/>
            <a:r>
              <a:t>Hardware: NVIDIA RTX PRO 1000 Laptop GPU (8 GB GDDR6) &amp; Intel Core Ultra 7 (CPU)  |  Estudo de Caso: CM Comandos Lineares  |  Setembro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Contexto Operacional e Desafio Industrial</a:t>
            </a:r>
          </a:p>
        </p:txBody>
      </p:sp>
      <p:sp>
        <p:nvSpPr>
          <p:cNvPr id="4" name="Rounded Rectangle 3"/>
          <p:cNvSpPr/>
          <p:nvPr/>
        </p:nvSpPr>
        <p:spPr>
          <a:xfrm>
            <a:off x="731520" y="1371600"/>
            <a:ext cx="10728655" cy="868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17320"/>
            <a:ext cx="10424160" cy="777240"/>
          </a:xfrm>
          <a:prstGeom prst="rect">
            <a:avLst/>
          </a:prstGeom>
          <a:noFill/>
        </p:spPr>
        <p:txBody>
          <a:bodyPr wrap="square">
            <a:spAutoFit/>
          </a:bodyPr>
          <a:lstStyle/>
          <a:p>
            <a:pPr>
              <a:defRPr b="1" sz="1200">
                <a:solidFill>
                  <a:srgbClr val="2B6CB0"/>
                </a:solidFill>
              </a:defRPr>
            </a:pPr>
            <a:r>
              <a:t>Cenário de Aplicação: </a:t>
            </a:r>
            <a:r>
              <a:rPr b="0">
                <a:solidFill>
                  <a:srgbClr val="2D3748"/>
                </a:solidFill>
              </a:rPr>
              <a:t>16 manuais de no-breaks industriais da CM Comandos Lineares cobrindo equipamentos monofásicos, trifásicos e sistemas modulares de missão crítica (hospitalar, data centers e infraestrutura de alta confiabilidade).</a:t>
            </a:r>
          </a:p>
        </p:txBody>
      </p:sp>
      <p:sp>
        <p:nvSpPr>
          <p:cNvPr id="6" name="TextBox 5"/>
          <p:cNvSpPr txBox="1"/>
          <p:nvPr/>
        </p:nvSpPr>
        <p:spPr>
          <a:xfrm>
            <a:off x="731520" y="2423160"/>
            <a:ext cx="10728655" cy="4114800"/>
          </a:xfrm>
          <a:prstGeom prst="rect">
            <a:avLst/>
          </a:prstGeom>
          <a:noFill/>
        </p:spPr>
        <p:txBody>
          <a:bodyPr wrap="square">
            <a:spAutoFit/>
          </a:bodyPr>
          <a:lstStyle/>
          <a:p>
            <a:pPr>
              <a:spcBef>
                <a:spcPts val="600"/>
              </a:spcBef>
              <a:defRPr b="1" sz="1200">
                <a:solidFill>
                  <a:srgbClr val="2B6CB0"/>
                </a:solidFill>
              </a:defRPr>
            </a:pPr>
            <a:r>
              <a:t>Vocabulário Eletrotécnico Especializado: </a:t>
            </a:r>
            <a:r>
              <a:rPr b="0">
                <a:solidFill>
                  <a:srgbClr val="2D3748"/>
                </a:solidFill>
              </a:rPr>
              <a:t>Manuais ricos em jargão de alta densidade técnica (bypass estático, retificador tiristorizado hexapolar, inversor IGBT, tensão de flutuação VRLA, barramento CC, THD). Erros de interpretação em campo acarretam falhas críticas em cargas protegidas.</a:t>
            </a:r>
          </a:p>
          <a:p>
            <a:pPr>
              <a:spcBef>
                <a:spcPts val="1000"/>
              </a:spcBef>
              <a:defRPr b="1" sz="1200">
                <a:solidFill>
                  <a:srgbClr val="2B6CB0"/>
                </a:solidFill>
              </a:defRPr>
            </a:pPr>
            <a:r>
              <a:t>Limitações de Soluções Proprietárias em Nuvem: </a:t>
            </a:r>
            <a:r>
              <a:rPr b="0">
                <a:solidFill>
                  <a:srgbClr val="2D3748"/>
                </a:solidFill>
              </a:rPr>
              <a:t>Inadmissibilidade de tráfego de esquemáticos confidenciais e manuais industriais para APIs de terceiros (risco de propriedade intelectual). Custo 'pay-per-token' inviabiliza milhões de requisições de assistência técnica continuada.</a:t>
            </a:r>
          </a:p>
          <a:p>
            <a:pPr>
              <a:spcBef>
                <a:spcPts val="1000"/>
              </a:spcBef>
              <a:defRPr b="1" sz="1200">
                <a:solidFill>
                  <a:srgbClr val="2B6CB0"/>
                </a:solidFill>
              </a:defRPr>
            </a:pPr>
            <a:r>
              <a:t>Inviabilidade em Ambientes Isolados (Air-Gapped): </a:t>
            </a:r>
            <a:r>
              <a:rPr b="0">
                <a:solidFill>
                  <a:srgbClr val="2D3748"/>
                </a:solidFill>
              </a:rPr>
              <a:t>Centros cirúrgicos hospitalares, usinas e subestações operam sob isolamento rígido de rede, demandando inferência 100% desconectada da internet.</a:t>
            </a:r>
          </a:p>
          <a:p>
            <a:pPr>
              <a:spcBef>
                <a:spcPts val="1000"/>
              </a:spcBef>
              <a:defRPr b="1" sz="1200">
                <a:solidFill>
                  <a:srgbClr val="2B6CB0"/>
                </a:solidFill>
              </a:defRPr>
            </a:pPr>
            <a:r>
              <a:t>Requisitos Estritos de Engenharia: </a:t>
            </a:r>
            <a:r>
              <a:rPr b="0">
                <a:solidFill>
                  <a:srgbClr val="2D3748"/>
                </a:solidFill>
              </a:rPr>
              <a:t>Operação integral em hardware pessoal/workstation com 8 GB de VRAM, resposta submétrica (&lt; 2 segundos) e custo financeiro zero de inferência.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Metodologia Experimental e Rigor Estatístico</a:t>
            </a:r>
          </a:p>
        </p:txBody>
      </p:sp>
      <p:sp>
        <p:nvSpPr>
          <p:cNvPr id="4" name="TextBox 3"/>
          <p:cNvSpPr txBox="1"/>
          <p:nvPr/>
        </p:nvSpPr>
        <p:spPr>
          <a:xfrm>
            <a:off x="731520" y="1417320"/>
            <a:ext cx="10728655" cy="5029200"/>
          </a:xfrm>
          <a:prstGeom prst="rect">
            <a:avLst/>
          </a:prstGeom>
          <a:noFill/>
        </p:spPr>
        <p:txBody>
          <a:bodyPr wrap="square">
            <a:spAutoFit/>
          </a:bodyPr>
          <a:lstStyle/>
          <a:p>
            <a:pPr>
              <a:spcBef>
                <a:spcPts val="400"/>
              </a:spcBef>
              <a:defRPr b="1" sz="1200">
                <a:solidFill>
                  <a:srgbClr val="2B6CB0"/>
                </a:solidFill>
              </a:defRPr>
            </a:pPr>
            <a:r>
              <a:t>Corpus Técnico &amp; Deduplicação Rigorosa: </a:t>
            </a:r>
            <a:r>
              <a:rPr b="0">
                <a:solidFill>
                  <a:srgbClr val="2D3748"/>
                </a:solidFill>
              </a:rPr>
              <a:t>16 manuais de no-breaks industriais divididos uniformemente via SentenceSplitter (chunk_size=512, chunk_overlap=50). Avaliação conduzida sobre 128 perguntas técnicas deduplicadas (N_efetivo) com gabaritos determinísticos de passagens canônicas.</a:t>
            </a:r>
          </a:p>
          <a:p>
            <a:pPr>
              <a:spcBef>
                <a:spcPts val="1000"/>
              </a:spcBef>
              <a:defRPr b="1" sz="1200">
                <a:solidFill>
                  <a:srgbClr val="2B6CB0"/>
                </a:solidFill>
              </a:defRPr>
            </a:pPr>
            <a:r>
              <a:t>Motor de Avaliação Multicamada (Matching Engine): </a:t>
            </a:r>
            <a:r>
              <a:rPr b="0">
                <a:solidFill>
                  <a:srgbClr val="2D3748"/>
                </a:solidFill>
              </a:rPr>
              <a:t>1. Contenção Estrita de Substring: Detecção determinística de passagens canônicas (&gt;= 40 caracteres normalizados).
2. Similaridade Sintática RapidFuzz: Token Set Ratio (&gt;= 85%) e Partial Ratio (&gt;= 80%) contra variações lexicais.
3. Sobreposição Semântica ROUGE-L: Avaliação da maior subsequência comum de tokens contíguos (F1 &gt;= 0.50).</a:t>
            </a:r>
          </a:p>
          <a:p>
            <a:pPr>
              <a:spcBef>
                <a:spcPts val="1000"/>
              </a:spcBef>
              <a:defRPr b="1" sz="1200">
                <a:solidFill>
                  <a:srgbClr val="2B6CB0"/>
                </a:solidFill>
              </a:defRPr>
            </a:pPr>
            <a:r>
              <a:t>Inferência Estatística &amp; Confiabilidade Científica: </a:t>
            </a:r>
            <a:r>
              <a:rPr b="0">
                <a:solidFill>
                  <a:srgbClr val="2D3748"/>
                </a:solidFill>
              </a:rPr>
              <a:t>Aplicação do teste pareado não-paramétrico de postos com sinais de Wilcoxon (alpha = 0.05) consulta por consulta para testar superioridade/equivalência. Complementado por intervalos de confiança Bootstrap de 95% (B = 1.000 iterações).</a:t>
            </a:r>
          </a:p>
          <a:p>
            <a:pPr>
              <a:spcBef>
                <a:spcPts val="1000"/>
              </a:spcBef>
              <a:defRPr b="1" sz="1200">
                <a:solidFill>
                  <a:srgbClr val="2B6CB0"/>
                </a:solidFill>
              </a:defRPr>
            </a:pPr>
            <a:r>
              <a:t>Gestão Estrita de VRAM e Isolamento de Índices: </a:t>
            </a:r>
            <a:r>
              <a:rPr b="0">
                <a:solidFill>
                  <a:srgbClr val="2D3748"/>
                </a:solidFill>
              </a:rPr>
              <a:t>Purga determinística de memória GPU entre modelos (torch.cuda.empty_cache(), keep_alive=0) e índices vetoriais segregados fisicamente em disco.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Fase 1: Avaliação de Embeddings (1º Estágio)</a:t>
            </a:r>
          </a:p>
        </p:txBody>
      </p:sp>
      <p:pic>
        <p:nvPicPr>
          <p:cNvPr id="4" name="Picture 3" descr="ranking_hitrate_mrr_k5.png"/>
          <p:cNvPicPr>
            <a:picLocks noChangeAspect="1"/>
          </p:cNvPicPr>
          <p:nvPr/>
        </p:nvPicPr>
        <p:blipFill>
          <a:blip r:embed="rId2"/>
          <a:stretch>
            <a:fillRect/>
          </a:stretch>
        </p:blipFill>
        <p:spPr>
          <a:xfrm>
            <a:off x="5303520" y="1371600"/>
            <a:ext cx="6217920" cy="3730752"/>
          </a:xfrm>
          <a:prstGeom prst="rect">
            <a:avLst/>
          </a:prstGeom>
        </p:spPr>
      </p:pic>
      <p:sp>
        <p:nvSpPr>
          <p:cNvPr id="5" name="TextBox 4"/>
          <p:cNvSpPr txBox="1"/>
          <p:nvPr/>
        </p:nvSpPr>
        <p:spPr>
          <a:xfrm>
            <a:off x="731520" y="1417320"/>
            <a:ext cx="4389120" cy="4937760"/>
          </a:xfrm>
          <a:prstGeom prst="rect">
            <a:avLst/>
          </a:prstGeom>
          <a:noFill/>
        </p:spPr>
        <p:txBody>
          <a:bodyPr wrap="square">
            <a:spAutoFit/>
          </a:bodyPr>
          <a:lstStyle/>
          <a:p>
            <a:pPr>
              <a:spcBef>
                <a:spcPts val="400"/>
              </a:spcBef>
              <a:defRPr b="1" sz="1100">
                <a:solidFill>
                  <a:srgbClr val="2B6CB0"/>
                </a:solidFill>
              </a:defRPr>
            </a:pPr>
            <a:r>
              <a:t>7 Modelos Avaliados: </a:t>
            </a:r>
            <a:r>
              <a:rPr b="0">
                <a:solidFill>
                  <a:srgbClr val="2D3748"/>
                </a:solidFill>
              </a:rPr>
              <a:t>OpenAI text-embedding-3-small (FP16) vs. modelos abertos locais (Qwen3-8B/4B Q4_K_M, Multilingual-E5-Large, BGE-M3, Nomic, BERTimbau).</a:t>
            </a:r>
          </a:p>
          <a:p>
            <a:pPr>
              <a:spcBef>
                <a:spcPts val="800"/>
              </a:spcBef>
              <a:defRPr b="1" sz="1100">
                <a:solidFill>
                  <a:srgbClr val="2B6CB0"/>
                </a:solidFill>
              </a:defRPr>
            </a:pPr>
            <a:r>
              <a:t>Destaque Multilingual-E5-Large: </a:t>
            </a:r>
            <a:r>
              <a:rPr b="0">
                <a:solidFill>
                  <a:srgbClr val="2D3748"/>
                </a:solidFill>
              </a:rPr>
              <a:t>Alcançou a maior precisão no primeiro posto ranqueado com MRR@5 = 0.4031 e latência ultrarrápida de 22.9 ms.</a:t>
            </a:r>
          </a:p>
          <a:p>
            <a:pPr>
              <a:spcBef>
                <a:spcPts val="800"/>
              </a:spcBef>
              <a:defRPr b="1" sz="1100">
                <a:solidFill>
                  <a:srgbClr val="2B6CB0"/>
                </a:solidFill>
              </a:defRPr>
            </a:pPr>
            <a:r>
              <a:t>Vitória dos SLMs em Q4_K_M: </a:t>
            </a:r>
            <a:r>
              <a:rPr b="0">
                <a:solidFill>
                  <a:srgbClr val="2D3748"/>
                </a:solidFill>
              </a:rPr>
              <a:t>Qwen3-8B Q4_K_M obteve a maior cobertura do benchmark com HR@5 = 57.03% (vs. 46.88% da OpenAI; p = 0.0029).</a:t>
            </a:r>
          </a:p>
          <a:p>
            <a:pPr>
              <a:spcBef>
                <a:spcPts val="800"/>
              </a:spcBef>
              <a:defRPr b="1" sz="1100">
                <a:solidFill>
                  <a:srgbClr val="2B6CB0"/>
                </a:solidFill>
              </a:defRPr>
            </a:pPr>
            <a:r>
              <a:t>Retenção &gt;100% da Acurácia: </a:t>
            </a:r>
            <a:r>
              <a:rPr b="0">
                <a:solidFill>
                  <a:srgbClr val="2D3748"/>
                </a:solidFill>
              </a:rPr>
              <a:t>Modelos locais quantizados em 4-bit compensaram a compressão com escala, entregando custo zero e 11.5x menor latência (36 ms vs. 415 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O Desafio: Por que um estágio de recuperação não é suficiente?</a:t>
            </a:r>
          </a:p>
        </p:txBody>
      </p:sp>
      <p:sp>
        <p:nvSpPr>
          <p:cNvPr id="4" name="TextBox 3"/>
          <p:cNvSpPr txBox="1"/>
          <p:nvPr/>
        </p:nvSpPr>
        <p:spPr>
          <a:xfrm>
            <a:off x="731520" y="1417320"/>
            <a:ext cx="10728655" cy="5029200"/>
          </a:xfrm>
          <a:prstGeom prst="rect">
            <a:avLst/>
          </a:prstGeom>
          <a:noFill/>
        </p:spPr>
        <p:txBody>
          <a:bodyPr wrap="square">
            <a:spAutoFit/>
          </a:bodyPr>
          <a:lstStyle/>
          <a:p>
            <a:pPr>
              <a:spcBef>
                <a:spcPts val="600"/>
              </a:spcBef>
              <a:defRPr b="1" sz="1200">
                <a:solidFill>
                  <a:srgbClr val="2B6CB0"/>
                </a:solidFill>
              </a:defRPr>
            </a:pPr>
            <a:r>
              <a:t>Gargalo Estrutural dos Bi-Encoders: </a:t>
            </a:r>
            <a:r>
              <a:rPr b="0">
                <a:solidFill>
                  <a:srgbClr val="2D3748"/>
                </a:solidFill>
              </a:rPr>
              <a:t>Bi-encoders codificam pergunta e fragmentos em vetores isolados u = E(q) e v = E(d). A similaridade de cosseno condensa centenas de tokens em um único produto escalar, sendo incapaz de resolver dependências complexas (ex.: ordem de manobra de disjuntores, intertravamentos lógicos e variações entre modelos de no-breaks).</a:t>
            </a:r>
          </a:p>
          <a:p>
            <a:pPr>
              <a:spcBef>
                <a:spcPts val="1200"/>
              </a:spcBef>
              <a:defRPr b="1" sz="1200">
                <a:solidFill>
                  <a:srgbClr val="2B6CB0"/>
                </a:solidFill>
              </a:defRPr>
            </a:pPr>
            <a:r>
              <a:t>Teto de Precisão no Top-5 do 1º Estágio: </a:t>
            </a:r>
            <a:r>
              <a:rPr b="0">
                <a:solidFill>
                  <a:srgbClr val="2D3748"/>
                </a:solidFill>
              </a:rPr>
              <a:t>Mesmo o melhor modelo de embedding (Multilingual-E5-Large) alcançou MRR@5 de 0.4031 — o que indica que em cerca de 60% das consultas o fragmento principal não é posicionado no Top-1. Chunks com alta sobreposição lexical mas irrelevantes acabam poluindo o topo.</a:t>
            </a:r>
          </a:p>
          <a:p>
            <a:pPr>
              <a:spcBef>
                <a:spcPts val="1200"/>
              </a:spcBef>
              <a:defRPr b="1" sz="1200">
                <a:solidFill>
                  <a:srgbClr val="2B6CB0"/>
                </a:solidFill>
              </a:defRPr>
            </a:pPr>
            <a:r>
              <a:t>A Solução Arquitetural: Two-Stage RAG: </a:t>
            </a:r>
            <a:r>
              <a:rPr b="0">
                <a:solidFill>
                  <a:srgbClr val="2D3748"/>
                </a:solidFill>
              </a:rPr>
              <a:t>1º Estágio (Super-sampling K_cand = 20): Bi-encoder faz busca aproximada de alta revocação em 20–50 ms (~68% de recall).
2º Estágio (Re-ranking Neural): Cross-Encoder ou SLM dedicado aplica atenção cruzada profunda (all-to-all cross-attention) token-a-token ou logprob softmax binário, reordenando com precisão cirúrgica no Top-5.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Fase 2: Benchmark de Re-ranking Neural no Top-5</a:t>
            </a:r>
          </a:p>
        </p:txBody>
      </p:sp>
      <p:graphicFrame>
        <p:nvGraphicFramePr>
          <p:cNvPr id="4" name="Table 3"/>
          <p:cNvGraphicFramePr>
            <a:graphicFrameLocks noGrp="1"/>
          </p:cNvGraphicFramePr>
          <p:nvPr/>
        </p:nvGraphicFramePr>
        <p:xfrm>
          <a:off x="731520" y="1417320"/>
          <a:ext cx="10698480" cy="4389120"/>
        </p:xfrm>
        <a:graphic>
          <a:graphicData uri="http://schemas.openxmlformats.org/drawingml/2006/table">
            <a:tbl>
              <a:tblPr firstRow="1" bandRow="1">
                <a:tableStyleId>{5C22544A-7EE6-4342-B048-85BDC9FD1C3A}</a:tableStyleId>
              </a:tblPr>
              <a:tblGrid>
                <a:gridCol w="2103120"/>
                <a:gridCol w="2011680"/>
                <a:gridCol w="914400"/>
                <a:gridCol w="1005840"/>
                <a:gridCol w="1005840"/>
                <a:gridCol w="914400"/>
                <a:gridCol w="1463040"/>
                <a:gridCol w="1280160"/>
              </a:tblGrid>
              <a:tr h="399010">
                <a:tc>
                  <a:txBody>
                    <a:bodyPr/>
                    <a:lstStyle/>
                    <a:p>
                      <a:pPr>
                        <a:defRPr b="1" sz="1000">
                          <a:solidFill>
                            <a:srgbClr val="1A365D"/>
                          </a:solidFill>
                        </a:defRPr>
                      </a:pPr>
                      <a:r>
                        <a:t>Modelo Base (1º)</a:t>
                      </a:r>
                    </a:p>
                  </a:txBody>
                  <a:tcPr>
                    <a:solidFill>
                      <a:srgbClr val="EDF2F7"/>
                    </a:solidFill>
                  </a:tcPr>
                </a:tc>
                <a:tc>
                  <a:txBody>
                    <a:bodyPr/>
                    <a:lstStyle/>
                    <a:p>
                      <a:pPr>
                        <a:defRPr b="1" sz="1000">
                          <a:solidFill>
                            <a:srgbClr val="1A365D"/>
                          </a:solidFill>
                        </a:defRPr>
                      </a:pPr>
                      <a:r>
                        <a:t>Reranker (2º)</a:t>
                      </a:r>
                    </a:p>
                  </a:txBody>
                  <a:tcPr>
                    <a:solidFill>
                      <a:srgbClr val="EDF2F7"/>
                    </a:solidFill>
                  </a:tcPr>
                </a:tc>
                <a:tc>
                  <a:txBody>
                    <a:bodyPr/>
                    <a:lstStyle/>
                    <a:p>
                      <a:pPr>
                        <a:defRPr b="1" sz="1000">
                          <a:solidFill>
                            <a:srgbClr val="1A365D"/>
                          </a:solidFill>
                        </a:defRPr>
                      </a:pPr>
                      <a:r>
                        <a:t>HR@5</a:t>
                      </a:r>
                    </a:p>
                  </a:txBody>
                  <a:tcPr>
                    <a:solidFill>
                      <a:srgbClr val="EDF2F7"/>
                    </a:solidFill>
                  </a:tcPr>
                </a:tc>
                <a:tc>
                  <a:txBody>
                    <a:bodyPr/>
                    <a:lstStyle/>
                    <a:p>
                      <a:pPr>
                        <a:defRPr b="1" sz="1000">
                          <a:solidFill>
                            <a:srgbClr val="1A365D"/>
                          </a:solidFill>
                        </a:defRPr>
                      </a:pPr>
                      <a:r>
                        <a:t>MRR@5</a:t>
                      </a:r>
                    </a:p>
                  </a:txBody>
                  <a:tcPr>
                    <a:solidFill>
                      <a:srgbClr val="EDF2F7"/>
                    </a:solidFill>
                  </a:tcPr>
                </a:tc>
                <a:tc>
                  <a:txBody>
                    <a:bodyPr/>
                    <a:lstStyle/>
                    <a:p>
                      <a:pPr>
                        <a:defRPr b="1" sz="1000">
                          <a:solidFill>
                            <a:srgbClr val="1A365D"/>
                          </a:solidFill>
                        </a:defRPr>
                      </a:pPr>
                      <a:r>
                        <a:t>Δ MRR@5</a:t>
                      </a:r>
                    </a:p>
                  </a:txBody>
                  <a:tcPr>
                    <a:solidFill>
                      <a:srgbClr val="EDF2F7"/>
                    </a:solidFill>
                  </a:tcPr>
                </a:tc>
                <a:tc>
                  <a:txBody>
                    <a:bodyPr/>
                    <a:lstStyle/>
                    <a:p>
                      <a:pPr>
                        <a:defRPr b="1" sz="1000">
                          <a:solidFill>
                            <a:srgbClr val="1A365D"/>
                          </a:solidFill>
                        </a:defRPr>
                      </a:pPr>
                      <a:r>
                        <a:t>Δ HR@5</a:t>
                      </a:r>
                    </a:p>
                  </a:txBody>
                  <a:tcPr>
                    <a:solidFill>
                      <a:srgbClr val="EDF2F7"/>
                    </a:solidFill>
                  </a:tcPr>
                </a:tc>
                <a:tc>
                  <a:txBody>
                    <a:bodyPr/>
                    <a:lstStyle/>
                    <a:p>
                      <a:pPr>
                        <a:defRPr b="1" sz="1000">
                          <a:solidFill>
                            <a:srgbClr val="1A365D"/>
                          </a:solidFill>
                        </a:defRPr>
                      </a:pPr>
                      <a:r>
                        <a:t>Wilcoxon (p)</a:t>
                      </a:r>
                    </a:p>
                  </a:txBody>
                  <a:tcPr>
                    <a:solidFill>
                      <a:srgbClr val="EDF2F7"/>
                    </a:solidFill>
                  </a:tcPr>
                </a:tc>
                <a:tc>
                  <a:txBody>
                    <a:bodyPr/>
                    <a:lstStyle/>
                    <a:p>
                      <a:pPr>
                        <a:defRPr b="1" sz="1000">
                          <a:solidFill>
                            <a:srgbClr val="1A365D"/>
                          </a:solidFill>
                        </a:defRPr>
                      </a:pPr>
                      <a:r>
                        <a:t>Latência</a:t>
                      </a:r>
                    </a:p>
                  </a:txBody>
                  <a:tcPr>
                    <a:solidFill>
                      <a:srgbClr val="EDF2F7"/>
                    </a:solidFill>
                  </a:tcPr>
                </a:tc>
              </a:tr>
              <a:tr h="399010">
                <a:tc>
                  <a:txBody>
                    <a:bodyPr/>
                    <a:lstStyle/>
                    <a:p>
                      <a:pPr>
                        <a:defRPr sz="900"/>
                      </a:pPr>
                      <a:r>
                        <a:t>multilingual_e5_large</a:t>
                      </a:r>
                    </a:p>
                  </a:txBody>
                  <a:tcPr/>
                </a:tc>
                <a:tc>
                  <a:txBody>
                    <a:bodyPr/>
                    <a:lstStyle/>
                    <a:p>
                      <a:pPr>
                        <a:defRPr sz="900"/>
                      </a:pPr>
                      <a:r>
                        <a:t>none (Baseline)</a:t>
                      </a:r>
                    </a:p>
                  </a:txBody>
                  <a:tcPr/>
                </a:tc>
                <a:tc>
                  <a:txBody>
                    <a:bodyPr/>
                    <a:lstStyle/>
                    <a:p>
                      <a:pPr>
                        <a:defRPr sz="900"/>
                      </a:pPr>
                      <a:r>
                        <a:t>54.7%</a:t>
                      </a:r>
                    </a:p>
                  </a:txBody>
                  <a:tcPr/>
                </a:tc>
                <a:tc>
                  <a:txBody>
                    <a:bodyPr/>
                    <a:lstStyle/>
                    <a:p>
                      <a:pPr>
                        <a:defRPr sz="900"/>
                      </a:pPr>
                      <a:r>
                        <a:t>0.4031</a:t>
                      </a:r>
                    </a:p>
                  </a:txBody>
                  <a:tcPr/>
                </a:tc>
                <a:tc>
                  <a:txBody>
                    <a:bodyPr/>
                    <a:lstStyle/>
                    <a:p>
                      <a:pPr>
                        <a:defRPr sz="900"/>
                      </a:pPr>
                      <a:r>
                        <a:t>—</a:t>
                      </a:r>
                    </a:p>
                  </a:txBody>
                  <a:tcPr/>
                </a:tc>
                <a:tc>
                  <a:txBody>
                    <a:bodyPr/>
                    <a:lstStyle/>
                    <a:p>
                      <a:pPr>
                        <a:defRPr sz="900"/>
                      </a:pPr>
                      <a:r>
                        <a:t>—</a:t>
                      </a:r>
                    </a:p>
                  </a:txBody>
                  <a:tcPr/>
                </a:tc>
                <a:tc>
                  <a:txBody>
                    <a:bodyPr/>
                    <a:lstStyle/>
                    <a:p>
                      <a:pPr>
                        <a:defRPr sz="900"/>
                      </a:pPr>
                      <a:r>
                        <a:t>Baseline</a:t>
                      </a:r>
                    </a:p>
                  </a:txBody>
                  <a:tcPr/>
                </a:tc>
                <a:tc>
                  <a:txBody>
                    <a:bodyPr/>
                    <a:lstStyle/>
                    <a:p>
                      <a:pPr>
                        <a:defRPr sz="900"/>
                      </a:pPr>
                      <a:r>
                        <a:t>0.0 ms</a:t>
                      </a:r>
                    </a:p>
                  </a:txBody>
                  <a:tcPr/>
                </a:tc>
              </a:tr>
              <a:tr h="399010">
                <a:tc>
                  <a:txBody>
                    <a:bodyPr/>
                    <a:lstStyle/>
                    <a:p>
                      <a:pPr>
                        <a:defRPr sz="900"/>
                      </a:pPr>
                      <a:r>
                        <a:t>multilingual_e5_large</a:t>
                      </a:r>
                    </a:p>
                  </a:txBody>
                  <a:tcPr/>
                </a:tc>
                <a:tc>
                  <a:txBody>
                    <a:bodyPr/>
                    <a:lstStyle/>
                    <a:p>
                      <a:pPr>
                        <a:defRPr sz="900"/>
                      </a:pPr>
                      <a:r>
                        <a:t>bge_reranker_v2_m3</a:t>
                      </a:r>
                    </a:p>
                  </a:txBody>
                  <a:tcPr/>
                </a:tc>
                <a:tc>
                  <a:txBody>
                    <a:bodyPr/>
                    <a:lstStyle/>
                    <a:p>
                      <a:pPr>
                        <a:defRPr sz="900"/>
                      </a:pPr>
                      <a:r>
                        <a:t>57.0%</a:t>
                      </a:r>
                    </a:p>
                  </a:txBody>
                  <a:tcPr/>
                </a:tc>
                <a:tc>
                  <a:txBody>
                    <a:bodyPr/>
                    <a:lstStyle/>
                    <a:p>
                      <a:pPr>
                        <a:defRPr sz="900"/>
                      </a:pPr>
                      <a:r>
                        <a:t>0.4982</a:t>
                      </a:r>
                    </a:p>
                  </a:txBody>
                  <a:tcPr/>
                </a:tc>
                <a:tc>
                  <a:txBody>
                    <a:bodyPr/>
                    <a:lstStyle/>
                    <a:p>
                      <a:pPr>
                        <a:defRPr sz="900"/>
                      </a:pPr>
                      <a:r>
                        <a:t>+0.0951</a:t>
                      </a:r>
                    </a:p>
                  </a:txBody>
                  <a:tcPr/>
                </a:tc>
                <a:tc>
                  <a:txBody>
                    <a:bodyPr/>
                    <a:lstStyle/>
                    <a:p>
                      <a:pPr>
                        <a:defRPr sz="900"/>
                      </a:pPr>
                      <a:r>
                        <a:t>+2.3%</a:t>
                      </a:r>
                    </a:p>
                  </a:txBody>
                  <a:tcPr/>
                </a:tc>
                <a:tc>
                  <a:txBody>
                    <a:bodyPr/>
                    <a:lstStyle/>
                    <a:p>
                      <a:pPr>
                        <a:defRPr sz="900" b="1">
                          <a:solidFill>
                            <a:srgbClr val="2B6CB0"/>
                          </a:solidFill>
                        </a:defRPr>
                      </a:pPr>
                      <a:r>
                        <a:t>0.0261* (Sup.)</a:t>
                      </a:r>
                    </a:p>
                  </a:txBody>
                  <a:tcPr/>
                </a:tc>
                <a:tc>
                  <a:txBody>
                    <a:bodyPr/>
                    <a:lstStyle/>
                    <a:p>
                      <a:pPr>
                        <a:defRPr sz="900"/>
                      </a:pPr>
                      <a:r>
                        <a:t>1164.3 ms</a:t>
                      </a:r>
                    </a:p>
                  </a:txBody>
                  <a:tcPr/>
                </a:tc>
              </a:tr>
              <a:tr h="399010">
                <a:tc>
                  <a:txBody>
                    <a:bodyPr/>
                    <a:lstStyle/>
                    <a:p>
                      <a:pPr>
                        <a:defRPr sz="900"/>
                      </a:pPr>
                      <a:r>
                        <a:t>multilingual_e5_large</a:t>
                      </a:r>
                    </a:p>
                  </a:txBody>
                  <a:tcPr/>
                </a:tc>
                <a:tc>
                  <a:txBody>
                    <a:bodyPr/>
                    <a:lstStyle/>
                    <a:p>
                      <a:pPr>
                        <a:defRPr sz="900"/>
                      </a:pPr>
                      <a:r>
                        <a:t>qwen3_4b_q4km</a:t>
                      </a:r>
                    </a:p>
                  </a:txBody>
                  <a:tcPr/>
                </a:tc>
                <a:tc>
                  <a:txBody>
                    <a:bodyPr/>
                    <a:lstStyle/>
                    <a:p>
                      <a:pPr>
                        <a:defRPr sz="900"/>
                      </a:pPr>
                      <a:r>
                        <a:t>62.5%</a:t>
                      </a:r>
                    </a:p>
                  </a:txBody>
                  <a:tcPr/>
                </a:tc>
                <a:tc>
                  <a:txBody>
                    <a:bodyPr/>
                    <a:lstStyle/>
                    <a:p>
                      <a:pPr>
                        <a:defRPr sz="900"/>
                      </a:pPr>
                      <a:r>
                        <a:t>0.4764</a:t>
                      </a:r>
                    </a:p>
                  </a:txBody>
                  <a:tcPr/>
                </a:tc>
                <a:tc>
                  <a:txBody>
                    <a:bodyPr/>
                    <a:lstStyle/>
                    <a:p>
                      <a:pPr>
                        <a:defRPr sz="900"/>
                      </a:pPr>
                      <a:r>
                        <a:t>+0.0733</a:t>
                      </a:r>
                    </a:p>
                  </a:txBody>
                  <a:tcPr/>
                </a:tc>
                <a:tc>
                  <a:txBody>
                    <a:bodyPr/>
                    <a:lstStyle/>
                    <a:p>
                      <a:pPr>
                        <a:defRPr sz="900"/>
                      </a:pPr>
                      <a:r>
                        <a:t>+7.8%</a:t>
                      </a:r>
                    </a:p>
                  </a:txBody>
                  <a:tcPr/>
                </a:tc>
                <a:tc>
                  <a:txBody>
                    <a:bodyPr/>
                    <a:lstStyle/>
                    <a:p>
                      <a:pPr>
                        <a:defRPr sz="900" b="1">
                          <a:solidFill>
                            <a:srgbClr val="2B6CB0"/>
                          </a:solidFill>
                        </a:defRPr>
                      </a:pPr>
                      <a:r>
                        <a:t>0.0406* (Sup.)</a:t>
                      </a:r>
                    </a:p>
                  </a:txBody>
                  <a:tcPr/>
                </a:tc>
                <a:tc>
                  <a:txBody>
                    <a:bodyPr/>
                    <a:lstStyle/>
                    <a:p>
                      <a:pPr>
                        <a:defRPr sz="900"/>
                      </a:pPr>
                      <a:r>
                        <a:t>6211.0 ms</a:t>
                      </a:r>
                    </a:p>
                  </a:txBody>
                  <a:tcPr/>
                </a:tc>
              </a:tr>
              <a:tr h="399010">
                <a:tc>
                  <a:txBody>
                    <a:bodyPr/>
                    <a:lstStyle/>
                    <a:p>
                      <a:pPr>
                        <a:defRPr sz="900"/>
                      </a:pPr>
                      <a:r>
                        <a:t>multilingual_e5_large</a:t>
                      </a:r>
                    </a:p>
                  </a:txBody>
                  <a:tcPr/>
                </a:tc>
                <a:tc>
                  <a:txBody>
                    <a:bodyPr/>
                    <a:lstStyle/>
                    <a:p>
                      <a:pPr>
                        <a:defRPr sz="900"/>
                      </a:pPr>
                      <a:r>
                        <a:t>qwen3_8b_q5km</a:t>
                      </a:r>
                    </a:p>
                  </a:txBody>
                  <a:tcPr/>
                </a:tc>
                <a:tc>
                  <a:txBody>
                    <a:bodyPr/>
                    <a:lstStyle/>
                    <a:p>
                      <a:pPr>
                        <a:defRPr sz="900" b="1">
                          <a:solidFill>
                            <a:srgbClr val="228B22"/>
                          </a:solidFill>
                        </a:defRPr>
                      </a:pPr>
                      <a:r>
                        <a:t>65.6% (Top)</a:t>
                      </a:r>
                    </a:p>
                  </a:txBody>
                  <a:tcPr/>
                </a:tc>
                <a:tc>
                  <a:txBody>
                    <a:bodyPr/>
                    <a:lstStyle/>
                    <a:p>
                      <a:pPr>
                        <a:defRPr sz="900"/>
                      </a:pPr>
                      <a:r>
                        <a:t>0.4975</a:t>
                      </a:r>
                    </a:p>
                  </a:txBody>
                  <a:tcPr/>
                </a:tc>
                <a:tc>
                  <a:txBody>
                    <a:bodyPr/>
                    <a:lstStyle/>
                    <a:p>
                      <a:pPr>
                        <a:defRPr sz="900"/>
                      </a:pPr>
                      <a:r>
                        <a:t>+0.0944</a:t>
                      </a:r>
                    </a:p>
                  </a:txBody>
                  <a:tcPr/>
                </a:tc>
                <a:tc>
                  <a:txBody>
                    <a:bodyPr/>
                    <a:lstStyle/>
                    <a:p>
                      <a:pPr>
                        <a:defRPr sz="900"/>
                      </a:pPr>
                      <a:r>
                        <a:t>+10.9%</a:t>
                      </a:r>
                    </a:p>
                  </a:txBody>
                  <a:tcPr/>
                </a:tc>
                <a:tc>
                  <a:txBody>
                    <a:bodyPr/>
                    <a:lstStyle/>
                    <a:p>
                      <a:pPr>
                        <a:defRPr sz="900" b="1">
                          <a:solidFill>
                            <a:srgbClr val="2B6CB0"/>
                          </a:solidFill>
                        </a:defRPr>
                      </a:pPr>
                      <a:r>
                        <a:t>0.0023* (Sup.)</a:t>
                      </a:r>
                    </a:p>
                  </a:txBody>
                  <a:tcPr/>
                </a:tc>
                <a:tc>
                  <a:txBody>
                    <a:bodyPr/>
                    <a:lstStyle/>
                    <a:p>
                      <a:pPr>
                        <a:defRPr sz="900"/>
                      </a:pPr>
                      <a:r>
                        <a:t>6894.9 ms</a:t>
                      </a:r>
                    </a:p>
                  </a:txBody>
                  <a:tcPr/>
                </a:tc>
              </a:tr>
              <a:tr h="399010">
                <a:tc>
                  <a:txBody>
                    <a:bodyPr/>
                    <a:lstStyle/>
                    <a:p>
                      <a:pPr>
                        <a:defRPr sz="900"/>
                      </a:pPr>
                      <a:r>
                        <a:t>multilingual_e5_large</a:t>
                      </a:r>
                    </a:p>
                  </a:txBody>
                  <a:tcPr/>
                </a:tc>
                <a:tc>
                  <a:txBody>
                    <a:bodyPr/>
                    <a:lstStyle/>
                    <a:p>
                      <a:pPr>
                        <a:defRPr sz="900"/>
                      </a:pPr>
                      <a:r>
                        <a:t>rankgpt (gpt-4o-mini)</a:t>
                      </a:r>
                    </a:p>
                  </a:txBody>
                  <a:tcPr/>
                </a:tc>
                <a:tc>
                  <a:txBody>
                    <a:bodyPr/>
                    <a:lstStyle/>
                    <a:p>
                      <a:pPr>
                        <a:defRPr sz="900"/>
                      </a:pPr>
                      <a:r>
                        <a:t>61.7%</a:t>
                      </a:r>
                    </a:p>
                  </a:txBody>
                  <a:tcPr/>
                </a:tc>
                <a:tc>
                  <a:txBody>
                    <a:bodyPr/>
                    <a:lstStyle/>
                    <a:p>
                      <a:pPr>
                        <a:defRPr sz="900"/>
                      </a:pPr>
                      <a:r>
                        <a:t>0.4573</a:t>
                      </a:r>
                    </a:p>
                  </a:txBody>
                  <a:tcPr/>
                </a:tc>
                <a:tc>
                  <a:txBody>
                    <a:bodyPr/>
                    <a:lstStyle/>
                    <a:p>
                      <a:pPr>
                        <a:defRPr sz="900"/>
                      </a:pPr>
                      <a:r>
                        <a:t>+0.0542</a:t>
                      </a:r>
                    </a:p>
                  </a:txBody>
                  <a:tcPr/>
                </a:tc>
                <a:tc>
                  <a:txBody>
                    <a:bodyPr/>
                    <a:lstStyle/>
                    <a:p>
                      <a:pPr>
                        <a:defRPr sz="900"/>
                      </a:pPr>
                      <a:r>
                        <a:t>+7.0%</a:t>
                      </a:r>
                    </a:p>
                  </a:txBody>
                  <a:tcPr/>
                </a:tc>
                <a:tc>
                  <a:txBody>
                    <a:bodyPr/>
                    <a:lstStyle/>
                    <a:p>
                      <a:pPr>
                        <a:defRPr sz="900"/>
                      </a:pPr>
                      <a:r>
                        <a:t>0.0510 (Equiv.)</a:t>
                      </a:r>
                    </a:p>
                  </a:txBody>
                  <a:tcPr/>
                </a:tc>
                <a:tc>
                  <a:txBody>
                    <a:bodyPr/>
                    <a:lstStyle/>
                    <a:p>
                      <a:pPr>
                        <a:defRPr sz="900"/>
                      </a:pPr>
                      <a:r>
                        <a:t>1723.0 ms</a:t>
                      </a:r>
                    </a:p>
                  </a:txBody>
                  <a:tcPr/>
                </a:tc>
              </a:tr>
              <a:tr h="399010">
                <a:tc>
                  <a:txBody>
                    <a:bodyPr/>
                    <a:lstStyle/>
                    <a:p>
                      <a:pPr>
                        <a:defRPr sz="900"/>
                      </a:pPr>
                      <a:r>
                        <a:t>qwen3_8b_q4km</a:t>
                      </a:r>
                    </a:p>
                  </a:txBody>
                  <a:tcPr/>
                </a:tc>
                <a:tc>
                  <a:txBody>
                    <a:bodyPr/>
                    <a:lstStyle/>
                    <a:p>
                      <a:pPr>
                        <a:defRPr sz="900"/>
                      </a:pPr>
                      <a:r>
                        <a:t>none (Baseline)</a:t>
                      </a:r>
                    </a:p>
                  </a:txBody>
                  <a:tcPr/>
                </a:tc>
                <a:tc>
                  <a:txBody>
                    <a:bodyPr/>
                    <a:lstStyle/>
                    <a:p>
                      <a:pPr>
                        <a:defRPr sz="900"/>
                      </a:pPr>
                      <a:r>
                        <a:t>57.0%</a:t>
                      </a:r>
                    </a:p>
                  </a:txBody>
                  <a:tcPr/>
                </a:tc>
                <a:tc>
                  <a:txBody>
                    <a:bodyPr/>
                    <a:lstStyle/>
                    <a:p>
                      <a:pPr>
                        <a:defRPr sz="900"/>
                      </a:pPr>
                      <a:r>
                        <a:t>0.3887</a:t>
                      </a:r>
                    </a:p>
                  </a:txBody>
                  <a:tcPr/>
                </a:tc>
                <a:tc>
                  <a:txBody>
                    <a:bodyPr/>
                    <a:lstStyle/>
                    <a:p>
                      <a:pPr>
                        <a:defRPr sz="900"/>
                      </a:pPr>
                      <a:r>
                        <a:t>—</a:t>
                      </a:r>
                    </a:p>
                  </a:txBody>
                  <a:tcPr/>
                </a:tc>
                <a:tc>
                  <a:txBody>
                    <a:bodyPr/>
                    <a:lstStyle/>
                    <a:p>
                      <a:pPr>
                        <a:defRPr sz="900"/>
                      </a:pPr>
                      <a:r>
                        <a:t>—</a:t>
                      </a:r>
                    </a:p>
                  </a:txBody>
                  <a:tcPr/>
                </a:tc>
                <a:tc>
                  <a:txBody>
                    <a:bodyPr/>
                    <a:lstStyle/>
                    <a:p>
                      <a:pPr>
                        <a:defRPr sz="900"/>
                      </a:pPr>
                      <a:r>
                        <a:t>Baseline</a:t>
                      </a:r>
                    </a:p>
                  </a:txBody>
                  <a:tcPr/>
                </a:tc>
                <a:tc>
                  <a:txBody>
                    <a:bodyPr/>
                    <a:lstStyle/>
                    <a:p>
                      <a:pPr>
                        <a:defRPr sz="900"/>
                      </a:pPr>
                      <a:r>
                        <a:t>0.0 ms</a:t>
                      </a:r>
                    </a:p>
                  </a:txBody>
                  <a:tcPr/>
                </a:tc>
              </a:tr>
              <a:tr h="399010">
                <a:tc>
                  <a:txBody>
                    <a:bodyPr/>
                    <a:lstStyle/>
                    <a:p>
                      <a:pPr>
                        <a:defRPr sz="900"/>
                      </a:pPr>
                      <a:r>
                        <a:t>qwen3_8b_q4km</a:t>
                      </a:r>
                    </a:p>
                  </a:txBody>
                  <a:tcPr/>
                </a:tc>
                <a:tc>
                  <a:txBody>
                    <a:bodyPr/>
                    <a:lstStyle/>
                    <a:p>
                      <a:pPr>
                        <a:defRPr sz="900"/>
                      </a:pPr>
                      <a:r>
                        <a:t>bge_reranker_v2_m3</a:t>
                      </a:r>
                    </a:p>
                  </a:txBody>
                  <a:tcPr/>
                </a:tc>
                <a:tc>
                  <a:txBody>
                    <a:bodyPr/>
                    <a:lstStyle/>
                    <a:p>
                      <a:pPr>
                        <a:defRPr sz="900"/>
                      </a:pPr>
                      <a:r>
                        <a:t>53.9%</a:t>
                      </a:r>
                    </a:p>
                  </a:txBody>
                  <a:tcPr/>
                </a:tc>
                <a:tc>
                  <a:txBody>
                    <a:bodyPr/>
                    <a:lstStyle/>
                    <a:p>
                      <a:pPr>
                        <a:defRPr sz="900"/>
                      </a:pPr>
                      <a:r>
                        <a:t>0.4866</a:t>
                      </a:r>
                    </a:p>
                  </a:txBody>
                  <a:tcPr/>
                </a:tc>
                <a:tc>
                  <a:txBody>
                    <a:bodyPr/>
                    <a:lstStyle/>
                    <a:p>
                      <a:pPr>
                        <a:defRPr sz="900"/>
                      </a:pPr>
                      <a:r>
                        <a:t>+0.0979</a:t>
                      </a:r>
                    </a:p>
                  </a:txBody>
                  <a:tcPr/>
                </a:tc>
                <a:tc>
                  <a:txBody>
                    <a:bodyPr/>
                    <a:lstStyle/>
                    <a:p>
                      <a:pPr>
                        <a:defRPr sz="900"/>
                      </a:pPr>
                      <a:r>
                        <a:t>-3.1%</a:t>
                      </a:r>
                    </a:p>
                  </a:txBody>
                  <a:tcPr/>
                </a:tc>
                <a:tc>
                  <a:txBody>
                    <a:bodyPr/>
                    <a:lstStyle/>
                    <a:p>
                      <a:pPr>
                        <a:defRPr sz="900" b="1">
                          <a:solidFill>
                            <a:srgbClr val="2B6CB0"/>
                          </a:solidFill>
                        </a:defRPr>
                      </a:pPr>
                      <a:r>
                        <a:t>0.0038* (Sup.)</a:t>
                      </a:r>
                    </a:p>
                  </a:txBody>
                  <a:tcPr/>
                </a:tc>
                <a:tc>
                  <a:txBody>
                    <a:bodyPr/>
                    <a:lstStyle/>
                    <a:p>
                      <a:pPr>
                        <a:defRPr sz="900"/>
                      </a:pPr>
                      <a:r>
                        <a:t>1145.1 ms</a:t>
                      </a:r>
                    </a:p>
                  </a:txBody>
                  <a:tcPr/>
                </a:tc>
              </a:tr>
              <a:tr h="399010">
                <a:tc>
                  <a:txBody>
                    <a:bodyPr/>
                    <a:lstStyle/>
                    <a:p>
                      <a:pPr>
                        <a:defRPr sz="900"/>
                      </a:pPr>
                      <a:r>
                        <a:t>qwen3_8b_q4km</a:t>
                      </a:r>
                    </a:p>
                  </a:txBody>
                  <a:tcPr/>
                </a:tc>
                <a:tc>
                  <a:txBody>
                    <a:bodyPr/>
                    <a:lstStyle/>
                    <a:p>
                      <a:pPr>
                        <a:defRPr sz="900"/>
                      </a:pPr>
                      <a:r>
                        <a:t>qwen3_4b_q4km</a:t>
                      </a:r>
                    </a:p>
                  </a:txBody>
                  <a:tcPr/>
                </a:tc>
                <a:tc>
                  <a:txBody>
                    <a:bodyPr/>
                    <a:lstStyle/>
                    <a:p>
                      <a:pPr>
                        <a:defRPr sz="900"/>
                      </a:pPr>
                      <a:r>
                        <a:t>60.9%</a:t>
                      </a:r>
                    </a:p>
                  </a:txBody>
                  <a:tcPr/>
                </a:tc>
                <a:tc>
                  <a:txBody>
                    <a:bodyPr/>
                    <a:lstStyle/>
                    <a:p>
                      <a:pPr>
                        <a:defRPr sz="900"/>
                      </a:pPr>
                      <a:r>
                        <a:t>0.4738</a:t>
                      </a:r>
                    </a:p>
                  </a:txBody>
                  <a:tcPr/>
                </a:tc>
                <a:tc>
                  <a:txBody>
                    <a:bodyPr/>
                    <a:lstStyle/>
                    <a:p>
                      <a:pPr>
                        <a:defRPr sz="900"/>
                      </a:pPr>
                      <a:r>
                        <a:t>+0.0852</a:t>
                      </a:r>
                    </a:p>
                  </a:txBody>
                  <a:tcPr/>
                </a:tc>
                <a:tc>
                  <a:txBody>
                    <a:bodyPr/>
                    <a:lstStyle/>
                    <a:p>
                      <a:pPr>
                        <a:defRPr sz="900"/>
                      </a:pPr>
                      <a:r>
                        <a:t>+3.9%</a:t>
                      </a:r>
                    </a:p>
                  </a:txBody>
                  <a:tcPr/>
                </a:tc>
                <a:tc>
                  <a:txBody>
                    <a:bodyPr/>
                    <a:lstStyle/>
                    <a:p>
                      <a:pPr>
                        <a:defRPr sz="900" b="1">
                          <a:solidFill>
                            <a:srgbClr val="2B6CB0"/>
                          </a:solidFill>
                        </a:defRPr>
                      </a:pPr>
                      <a:r>
                        <a:t>0.0049* (Sup.)</a:t>
                      </a:r>
                    </a:p>
                  </a:txBody>
                  <a:tcPr/>
                </a:tc>
                <a:tc>
                  <a:txBody>
                    <a:bodyPr/>
                    <a:lstStyle/>
                    <a:p>
                      <a:pPr>
                        <a:defRPr sz="900"/>
                      </a:pPr>
                      <a:r>
                        <a:t>5181.6 ms</a:t>
                      </a:r>
                    </a:p>
                  </a:txBody>
                  <a:tcPr/>
                </a:tc>
              </a:tr>
              <a:tr h="399010">
                <a:tc>
                  <a:txBody>
                    <a:bodyPr/>
                    <a:lstStyle/>
                    <a:p>
                      <a:pPr>
                        <a:defRPr sz="900"/>
                      </a:pPr>
                      <a:r>
                        <a:t>qwen3_8b_q4km</a:t>
                      </a:r>
                    </a:p>
                  </a:txBody>
                  <a:tcPr/>
                </a:tc>
                <a:tc>
                  <a:txBody>
                    <a:bodyPr/>
                    <a:lstStyle/>
                    <a:p>
                      <a:pPr>
                        <a:defRPr sz="900"/>
                      </a:pPr>
                      <a:r>
                        <a:t>qwen3_8b_q5km</a:t>
                      </a:r>
                    </a:p>
                  </a:txBody>
                  <a:tcPr/>
                </a:tc>
                <a:tc>
                  <a:txBody>
                    <a:bodyPr/>
                    <a:lstStyle/>
                    <a:p>
                      <a:pPr>
                        <a:defRPr sz="900"/>
                      </a:pPr>
                      <a:r>
                        <a:t>60.2%</a:t>
                      </a:r>
                    </a:p>
                  </a:txBody>
                  <a:tcPr/>
                </a:tc>
                <a:tc>
                  <a:txBody>
                    <a:bodyPr/>
                    <a:lstStyle/>
                    <a:p>
                      <a:pPr>
                        <a:defRPr sz="900" b="1">
                          <a:solidFill>
                            <a:srgbClr val="228B22"/>
                          </a:solidFill>
                        </a:defRPr>
                      </a:pPr>
                      <a:r>
                        <a:t>0.5029 (Top)</a:t>
                      </a:r>
                    </a:p>
                  </a:txBody>
                  <a:tcPr/>
                </a:tc>
                <a:tc>
                  <a:txBody>
                    <a:bodyPr/>
                    <a:lstStyle/>
                    <a:p>
                      <a:pPr>
                        <a:defRPr sz="900"/>
                      </a:pPr>
                      <a:r>
                        <a:t>+0.1142</a:t>
                      </a:r>
                    </a:p>
                  </a:txBody>
                  <a:tcPr/>
                </a:tc>
                <a:tc>
                  <a:txBody>
                    <a:bodyPr/>
                    <a:lstStyle/>
                    <a:p>
                      <a:pPr>
                        <a:defRPr sz="900"/>
                      </a:pPr>
                      <a:r>
                        <a:t>+3.1%</a:t>
                      </a:r>
                    </a:p>
                  </a:txBody>
                  <a:tcPr/>
                </a:tc>
                <a:tc>
                  <a:txBody>
                    <a:bodyPr/>
                    <a:lstStyle/>
                    <a:p>
                      <a:pPr>
                        <a:defRPr sz="900" b="1">
                          <a:solidFill>
                            <a:srgbClr val="2B6CB0"/>
                          </a:solidFill>
                        </a:defRPr>
                      </a:pPr>
                      <a:r>
                        <a:t>0.0001* (Sup.)</a:t>
                      </a:r>
                    </a:p>
                  </a:txBody>
                  <a:tcPr/>
                </a:tc>
                <a:tc>
                  <a:txBody>
                    <a:bodyPr/>
                    <a:lstStyle/>
                    <a:p>
                      <a:pPr>
                        <a:defRPr sz="900"/>
                      </a:pPr>
                      <a:r>
                        <a:t>6424.2 ms</a:t>
                      </a:r>
                    </a:p>
                  </a:txBody>
                  <a:tcPr/>
                </a:tc>
              </a:tr>
              <a:tr h="399020">
                <a:tc>
                  <a:txBody>
                    <a:bodyPr/>
                    <a:lstStyle/>
                    <a:p>
                      <a:pPr>
                        <a:defRPr sz="900"/>
                      </a:pPr>
                      <a:r>
                        <a:t>qwen3_8b_q4km</a:t>
                      </a:r>
                    </a:p>
                  </a:txBody>
                  <a:tcPr/>
                </a:tc>
                <a:tc>
                  <a:txBody>
                    <a:bodyPr/>
                    <a:lstStyle/>
                    <a:p>
                      <a:pPr>
                        <a:defRPr sz="900"/>
                      </a:pPr>
                      <a:r>
                        <a:t>rankgpt (gpt-4o-mini)</a:t>
                      </a:r>
                    </a:p>
                  </a:txBody>
                  <a:tcPr/>
                </a:tc>
                <a:tc>
                  <a:txBody>
                    <a:bodyPr/>
                    <a:lstStyle/>
                    <a:p>
                      <a:pPr>
                        <a:defRPr sz="900"/>
                      </a:pPr>
                      <a:r>
                        <a:t>57.8%</a:t>
                      </a:r>
                    </a:p>
                  </a:txBody>
                  <a:tcPr/>
                </a:tc>
                <a:tc>
                  <a:txBody>
                    <a:bodyPr/>
                    <a:lstStyle/>
                    <a:p>
                      <a:pPr>
                        <a:defRPr sz="900"/>
                      </a:pPr>
                      <a:r>
                        <a:t>0.4663</a:t>
                      </a:r>
                    </a:p>
                  </a:txBody>
                  <a:tcPr/>
                </a:tc>
                <a:tc>
                  <a:txBody>
                    <a:bodyPr/>
                    <a:lstStyle/>
                    <a:p>
                      <a:pPr>
                        <a:defRPr sz="900"/>
                      </a:pPr>
                      <a:r>
                        <a:t>+0.0776</a:t>
                      </a:r>
                    </a:p>
                  </a:txBody>
                  <a:tcPr/>
                </a:tc>
                <a:tc>
                  <a:txBody>
                    <a:bodyPr/>
                    <a:lstStyle/>
                    <a:p>
                      <a:pPr>
                        <a:defRPr sz="900"/>
                      </a:pPr>
                      <a:r>
                        <a:t>+0.8%</a:t>
                      </a:r>
                    </a:p>
                  </a:txBody>
                  <a:tcPr/>
                </a:tc>
                <a:tc>
                  <a:txBody>
                    <a:bodyPr/>
                    <a:lstStyle/>
                    <a:p>
                      <a:pPr>
                        <a:defRPr sz="900" b="1">
                          <a:solidFill>
                            <a:srgbClr val="2B6CB0"/>
                          </a:solidFill>
                        </a:defRPr>
                      </a:pPr>
                      <a:r>
                        <a:t>0.0160* (Sup.)</a:t>
                      </a:r>
                    </a:p>
                  </a:txBody>
                  <a:tcPr/>
                </a:tc>
                <a:tc>
                  <a:txBody>
                    <a:bodyPr/>
                    <a:lstStyle/>
                    <a:p>
                      <a:pPr>
                        <a:defRPr sz="900"/>
                      </a:pPr>
                      <a:r>
                        <a:t>1647.8 ms</a:t>
                      </a:r>
                    </a:p>
                  </a:txBody>
                  <a:tcPr/>
                </a:tc>
              </a:tr>
            </a:tbl>
          </a:graphicData>
        </a:graphic>
      </p:graphicFrame>
      <p:sp>
        <p:nvSpPr>
          <p:cNvPr id="5" name="TextBox 4"/>
          <p:cNvSpPr txBox="1"/>
          <p:nvPr/>
        </p:nvSpPr>
        <p:spPr>
          <a:xfrm>
            <a:off x="731520" y="5897880"/>
            <a:ext cx="10728655" cy="365760"/>
          </a:xfrm>
          <a:prstGeom prst="rect">
            <a:avLst/>
          </a:prstGeom>
          <a:noFill/>
        </p:spPr>
        <p:txBody>
          <a:bodyPr wrap="none">
            <a:spAutoFit/>
          </a:bodyPr>
          <a:lstStyle/>
          <a:p>
            <a:pPr>
              <a:defRPr sz="950">
                <a:solidFill>
                  <a:srgbClr val="718096"/>
                </a:solidFill>
              </a:defRPr>
            </a:pPr>
            <a:r>
              <a:t>*Nota: p &lt; 0.05 no teste de postos com sinais de Wilcoxon comprova ganho estatisticamente significante contra o baseline puro.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Descoberta Central: Modelos Locais Superam a OpenAI</a:t>
            </a:r>
          </a:p>
        </p:txBody>
      </p:sp>
      <p:pic>
        <p:nvPicPr>
          <p:cNvPr id="4" name="Picture 3" descr="delta_mrr5_rerankers.png"/>
          <p:cNvPicPr>
            <a:picLocks noChangeAspect="1"/>
          </p:cNvPicPr>
          <p:nvPr/>
        </p:nvPicPr>
        <p:blipFill>
          <a:blip r:embed="rId2"/>
          <a:stretch>
            <a:fillRect/>
          </a:stretch>
        </p:blipFill>
        <p:spPr>
          <a:xfrm>
            <a:off x="5303520" y="1371600"/>
            <a:ext cx="6217920" cy="2784058"/>
          </a:xfrm>
          <a:prstGeom prst="rect">
            <a:avLst/>
          </a:prstGeom>
        </p:spPr>
      </p:pic>
      <p:sp>
        <p:nvSpPr>
          <p:cNvPr id="5" name="TextBox 4"/>
          <p:cNvSpPr txBox="1"/>
          <p:nvPr/>
        </p:nvSpPr>
        <p:spPr>
          <a:xfrm>
            <a:off x="731520" y="1417320"/>
            <a:ext cx="4389120" cy="4937760"/>
          </a:xfrm>
          <a:prstGeom prst="rect">
            <a:avLst/>
          </a:prstGeom>
          <a:noFill/>
        </p:spPr>
        <p:txBody>
          <a:bodyPr wrap="square">
            <a:spAutoFit/>
          </a:bodyPr>
          <a:lstStyle/>
          <a:p>
            <a:pPr>
              <a:spcBef>
                <a:spcPts val="400"/>
              </a:spcBef>
              <a:defRPr b="1" sz="1100">
                <a:solidFill>
                  <a:srgbClr val="2B6CB0"/>
                </a:solidFill>
              </a:defRPr>
            </a:pPr>
            <a:r>
              <a:t>Superação da OpenAI Comercial: </a:t>
            </a:r>
            <a:r>
              <a:rPr b="0">
                <a:solidFill>
                  <a:srgbClr val="2D3748"/>
                </a:solidFill>
              </a:rPr>
              <a:t>Todos os modelos abertos locais (BGE-v2-m3, Qwen3-4B e Qwen3-8B) superaram o RankGPT (gpt-4o-mini) em ganho de MRR@5.</a:t>
            </a:r>
          </a:p>
          <a:p>
            <a:pPr>
              <a:spcBef>
                <a:spcPts val="800"/>
              </a:spcBef>
              <a:defRPr b="1" sz="1100">
                <a:solidFill>
                  <a:srgbClr val="2B6CB0"/>
                </a:solidFill>
              </a:defRPr>
            </a:pPr>
            <a:r>
              <a:t>Salto Expressivo de Precisão: </a:t>
            </a:r>
            <a:r>
              <a:rPr b="0">
                <a:solidFill>
                  <a:srgbClr val="2D3748"/>
                </a:solidFill>
              </a:rPr>
              <a:t>Com base Qwen3-8B, o MRR@5 saltou de 0.3887 para 0.5029 (+29.4%, delta = +0.1142) com significância estatística extrema (p = 0.0001).</a:t>
            </a:r>
          </a:p>
          <a:p>
            <a:pPr>
              <a:spcBef>
                <a:spcPts val="800"/>
              </a:spcBef>
              <a:defRPr b="1" sz="1100">
                <a:solidFill>
                  <a:srgbClr val="2B6CB0"/>
                </a:solidFill>
              </a:defRPr>
            </a:pPr>
            <a:r>
              <a:t>BGE-v2-m3 Superior na Base E5: </a:t>
            </a:r>
            <a:r>
              <a:rPr b="0">
                <a:solidFill>
                  <a:srgbClr val="2D3748"/>
                </a:solidFill>
              </a:rPr>
              <a:t>Alcançou MRR@5 = 0.4982 (+23.6%) contra apenas 0.4573 do RankGPT comercial na nuvem.</a:t>
            </a:r>
          </a:p>
          <a:p>
            <a:pPr>
              <a:spcBef>
                <a:spcPts val="800"/>
              </a:spcBef>
              <a:defRPr b="1" sz="1100">
                <a:solidFill>
                  <a:srgbClr val="2B6CB0"/>
                </a:solidFill>
              </a:defRPr>
            </a:pPr>
            <a:r>
              <a:t>Por que os Modelos Locais Vencem?: </a:t>
            </a:r>
            <a:r>
              <a:rPr b="0">
                <a:solidFill>
                  <a:srgbClr val="2D3748"/>
                </a:solidFill>
              </a:rPr>
              <a:t>Modelos treinados especificamente para relevância de passagens e com atenção cruzada possuem calibração contínua de confiança, superando prompts listwise genéricos.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Trade-off de Engenharia: Acurácia vs. Latência vs. VRAM</a:t>
            </a:r>
          </a:p>
        </p:txBody>
      </p:sp>
      <p:pic>
        <p:nvPicPr>
          <p:cNvPr id="4" name="Picture 3" descr="tradeoff_latencia_mrr_rerankers.png"/>
          <p:cNvPicPr>
            <a:picLocks noChangeAspect="1"/>
          </p:cNvPicPr>
          <p:nvPr/>
        </p:nvPicPr>
        <p:blipFill>
          <a:blip r:embed="rId2"/>
          <a:stretch>
            <a:fillRect/>
          </a:stretch>
        </p:blipFill>
        <p:spPr>
          <a:xfrm>
            <a:off x="5303520" y="1371600"/>
            <a:ext cx="6217920" cy="3656137"/>
          </a:xfrm>
          <a:prstGeom prst="rect">
            <a:avLst/>
          </a:prstGeom>
        </p:spPr>
      </p:pic>
      <p:sp>
        <p:nvSpPr>
          <p:cNvPr id="5" name="TextBox 4"/>
          <p:cNvSpPr txBox="1"/>
          <p:nvPr/>
        </p:nvSpPr>
        <p:spPr>
          <a:xfrm>
            <a:off x="731520" y="1417320"/>
            <a:ext cx="4389120" cy="4937760"/>
          </a:xfrm>
          <a:prstGeom prst="rect">
            <a:avLst/>
          </a:prstGeom>
          <a:noFill/>
        </p:spPr>
        <p:txBody>
          <a:bodyPr wrap="square">
            <a:spAutoFit/>
          </a:bodyPr>
          <a:lstStyle/>
          <a:p>
            <a:pPr>
              <a:spcBef>
                <a:spcPts val="400"/>
              </a:spcBef>
              <a:defRPr b="1" sz="1100">
                <a:solidFill>
                  <a:srgbClr val="2B6CB0"/>
                </a:solidFill>
              </a:defRPr>
            </a:pPr>
            <a:r>
              <a:t>Fronteira de Pareto Ótima: </a:t>
            </a:r>
            <a:r>
              <a:rPr b="0">
                <a:solidFill>
                  <a:srgbClr val="2D3748"/>
                </a:solidFill>
              </a:rPr>
              <a:t>BGE-Reranker-v2-m3 representa o sweet spot supremo de engenharia: adiciona apenas 1.14s a 1.16s por consulta e aloca ~1.2 GB de VRAM na GPU.</a:t>
            </a:r>
          </a:p>
          <a:p>
            <a:pPr>
              <a:spcBef>
                <a:spcPts val="800"/>
              </a:spcBef>
              <a:defRPr b="1" sz="1100">
                <a:solidFill>
                  <a:srgbClr val="2B6CB0"/>
                </a:solidFill>
              </a:defRPr>
            </a:pPr>
            <a:r>
              <a:t>Sweet Spot de Cobertura: </a:t>
            </a:r>
            <a:r>
              <a:rPr b="0">
                <a:solidFill>
                  <a:srgbClr val="2D3748"/>
                </a:solidFill>
              </a:rPr>
              <a:t>Qwen3-4B Q4_K_M eleva o Hit Rate@5 para 62.5% (+7.8 p.p.) com ~5.1s de latência e 2.5 GB de VRAM.</a:t>
            </a:r>
          </a:p>
          <a:p>
            <a:pPr>
              <a:spcBef>
                <a:spcPts val="800"/>
              </a:spcBef>
              <a:defRPr b="1" sz="1100">
                <a:solidFill>
                  <a:srgbClr val="2B6CB0"/>
                </a:solidFill>
              </a:defRPr>
            </a:pPr>
            <a:r>
              <a:t>Cobertura e Precisão Máximas: </a:t>
            </a:r>
            <a:r>
              <a:rPr b="0">
                <a:solidFill>
                  <a:srgbClr val="2D3748"/>
                </a:solidFill>
              </a:rPr>
              <a:t>Qwen3-8B Q5_K_M atinge 65.6% de HR@5 e MRR@5 de 0.5029 em ~6.4s de inferência (~5.9 GB VRAM).</a:t>
            </a:r>
          </a:p>
          <a:p>
            <a:pPr>
              <a:spcBef>
                <a:spcPts val="800"/>
              </a:spcBef>
              <a:defRPr b="1" sz="1100">
                <a:solidFill>
                  <a:srgbClr val="2B6CB0"/>
                </a:solidFill>
              </a:defRPr>
            </a:pPr>
            <a:r>
              <a:t>Folga de Memória Garantida: </a:t>
            </a:r>
            <a:r>
              <a:rPr b="0">
                <a:solidFill>
                  <a:srgbClr val="2D3748"/>
                </a:solidFill>
              </a:rPr>
              <a:t>Mesmo a configuração mais pesada (8B) opera estavelmente dentro dos 8 GB GDDR6 da NVIDIA RTX PRO 1000.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Recomendação de Produção: Arquitetura 100% em CPU (Sem GPU Dedicada)</a:t>
            </a:r>
          </a:p>
        </p:txBody>
      </p:sp>
      <p:sp>
        <p:nvSpPr>
          <p:cNvPr id="4" name="Rounded Rectangle 3"/>
          <p:cNvSpPr/>
          <p:nvPr/>
        </p:nvSpPr>
        <p:spPr>
          <a:xfrm>
            <a:off x="731520" y="1417320"/>
            <a:ext cx="5212080" cy="411480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4937760" cy="3931920"/>
          </a:xfrm>
          <a:prstGeom prst="rect">
            <a:avLst/>
          </a:prstGeom>
          <a:noFill/>
        </p:spPr>
        <p:txBody>
          <a:bodyPr wrap="square">
            <a:spAutoFit/>
          </a:bodyPr>
          <a:lstStyle/>
          <a:p>
            <a:pPr>
              <a:defRPr b="1" sz="1300">
                <a:solidFill>
                  <a:srgbClr val="1A365D"/>
                </a:solidFill>
              </a:defRPr>
            </a:pPr>
            <a:r>
              <a:t>Contexto Operacional e Solução Campeã</a:t>
            </a:r>
          </a:p>
          <a:p>
            <a:pPr>
              <a:spcBef>
                <a:spcPts val="600"/>
              </a:spcBef>
              <a:defRPr b="1" sz="1100">
                <a:solidFill>
                  <a:srgbClr val="2B6CB0"/>
                </a:solidFill>
              </a:defRPr>
            </a:pPr>
            <a:r>
              <a:t>Servidor Corporativo Exclusivo em CPU: </a:t>
            </a:r>
            <a:r>
              <a:rPr b="0">
                <a:solidFill>
                  <a:srgbClr val="2D3748"/>
                </a:solidFill>
              </a:rPr>
              <a:t>A infraestrutura de produção da CM Comandos Lineares opera sem placas aceleradoras GPU dedicadas.</a:t>
            </a:r>
          </a:p>
          <a:p>
            <a:pPr>
              <a:spcBef>
                <a:spcPts val="800"/>
              </a:spcBef>
              <a:defRPr b="1" sz="1100">
                <a:solidFill>
                  <a:srgbClr val="2B6CB0"/>
                </a:solidFill>
              </a:defRPr>
            </a:pPr>
            <a:r>
              <a:t>Solução Campeã Homologada: </a:t>
            </a:r>
            <a:r>
              <a:rPr b="0">
                <a:solidFill>
                  <a:srgbClr val="2D3748"/>
                </a:solidFill>
              </a:rPr>
              <a:t>1º Estágio com Multilingual-E5-Large (ONNX INT8) acelerado nativamente via instruções vetoriais AVX-512 / VNNI da CPU.</a:t>
            </a:r>
          </a:p>
          <a:p>
            <a:pPr>
              <a:spcBef>
                <a:spcPts val="800"/>
              </a:spcBef>
              <a:defRPr b="1" sz="1100">
                <a:solidFill>
                  <a:srgbClr val="2B6CB0"/>
                </a:solidFill>
              </a:defRPr>
            </a:pPr>
            <a:r>
              <a:t>Soberania Total e Custo Zero: </a:t>
            </a:r>
            <a:r>
              <a:rPr b="0">
                <a:solidFill>
                  <a:srgbClr val="2D3748"/>
                </a:solidFill>
              </a:rPr>
              <a:t>Operação 100% local (air-gapped), eliminando custos recorrentes de API e garantindo blindagem de dados confidenciais.</a:t>
            </a:r>
          </a:p>
          <a:p>
            <a:pPr>
              <a:spcBef>
                <a:spcPts val="800"/>
              </a:spcBef>
              <a:defRPr b="1" sz="1100">
                <a:solidFill>
                  <a:srgbClr val="2B6CB0"/>
                </a:solidFill>
              </a:defRPr>
            </a:pPr>
            <a:r>
              <a:t>Adequação Perfeita à Demanda: </a:t>
            </a:r>
            <a:r>
              <a:rPr b="0">
                <a:solidFill>
                  <a:srgbClr val="2D3748"/>
                </a:solidFill>
              </a:rPr>
              <a:t>Ideal para integração em sistemas internos, SAC e portais técnicos com alta estabilidade.</a:t>
            </a:r>
          </a:p>
        </p:txBody>
      </p:sp>
      <p:sp>
        <p:nvSpPr>
          <p:cNvPr id="6" name="Rounded Rectangle 5"/>
          <p:cNvSpPr/>
          <p:nvPr/>
        </p:nvSpPr>
        <p:spPr>
          <a:xfrm>
            <a:off x="6248095" y="1417320"/>
            <a:ext cx="5212080" cy="411480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5255" y="1508760"/>
            <a:ext cx="4937760" cy="3931920"/>
          </a:xfrm>
          <a:prstGeom prst="rect">
            <a:avLst/>
          </a:prstGeom>
          <a:noFill/>
        </p:spPr>
        <p:txBody>
          <a:bodyPr wrap="square">
            <a:spAutoFit/>
          </a:bodyPr>
          <a:lstStyle/>
          <a:p>
            <a:pPr>
              <a:defRPr b="1" sz="1300">
                <a:solidFill>
                  <a:srgbClr val="1A365D"/>
                </a:solidFill>
              </a:defRPr>
            </a:pPr>
            <a:r>
              <a:t>Métricas Comprovadas na CPU (Servidor CM Comandos)</a:t>
            </a:r>
          </a:p>
          <a:p>
            <a:pPr>
              <a:spcBef>
                <a:spcPts val="600"/>
              </a:spcBef>
              <a:defRPr b="1" sz="1100">
                <a:solidFill>
                  <a:srgbClr val="2B6CB0"/>
                </a:solidFill>
              </a:defRPr>
            </a:pPr>
            <a:r>
              <a:t>Latência Ultrarrápida: </a:t>
            </a:r>
            <a:r>
              <a:rPr b="0">
                <a:solidFill>
                  <a:srgbClr val="2D3748"/>
                </a:solidFill>
              </a:rPr>
              <a:t>Apenas 107 ms por consulta na CPU pura (3,9x mais rápido que os 415 ms da API em nuvem da OpenAI!).</a:t>
            </a:r>
          </a:p>
          <a:p>
            <a:pPr>
              <a:spcBef>
                <a:spcPts val="800"/>
              </a:spcBef>
              <a:defRPr b="1" sz="1100">
                <a:solidFill>
                  <a:srgbClr val="2B6CB0"/>
                </a:solidFill>
              </a:defRPr>
            </a:pPr>
            <a:r>
              <a:t>Consumo Mínimo de Memória: </a:t>
            </a:r>
            <a:r>
              <a:rPr b="0">
                <a:solidFill>
                  <a:srgbClr val="2D3748"/>
                </a:solidFill>
              </a:rPr>
              <a:t>&lt; 1.5 GB de RAM — viável com folga em qualquer máquina virtual ou servidor corporativo modesto.</a:t>
            </a:r>
          </a:p>
          <a:p>
            <a:pPr>
              <a:spcBef>
                <a:spcPts val="800"/>
              </a:spcBef>
              <a:defRPr b="1" sz="1100">
                <a:solidFill>
                  <a:srgbClr val="2B6CB0"/>
                </a:solidFill>
              </a:defRPr>
            </a:pPr>
            <a:r>
              <a:t>Precisão Superior à Nuvem: </a:t>
            </a:r>
            <a:r>
              <a:rPr b="0">
                <a:solidFill>
                  <a:srgbClr val="2D3748"/>
                </a:solidFill>
              </a:rPr>
              <a:t>MRR@5 de 0.4031 (já superior aos 0.3840 da OpenAI text-embedding-3-small).</a:t>
            </a:r>
          </a:p>
          <a:p>
            <a:pPr>
              <a:spcBef>
                <a:spcPts val="800"/>
              </a:spcBef>
              <a:defRPr b="1" sz="1100">
                <a:solidFill>
                  <a:srgbClr val="2B6CB0"/>
                </a:solidFill>
              </a:defRPr>
            </a:pPr>
            <a:r>
              <a:t>Tempo Real Assegurado: </a:t>
            </a:r>
            <a:r>
              <a:rPr b="0">
                <a:solidFill>
                  <a:srgbClr val="2D3748"/>
                </a:solidFill>
              </a:rPr>
              <a:t>Tempo de resposta submétrico permitindo experiência fluida para técnicos em campo.</a:t>
            </a:r>
          </a:p>
        </p:txBody>
      </p:sp>
      <p:sp>
        <p:nvSpPr>
          <p:cNvPr id="8" name="Rounded Rectangle 7"/>
          <p:cNvSpPr/>
          <p:nvPr/>
        </p:nvSpPr>
        <p:spPr>
          <a:xfrm>
            <a:off x="731520" y="5669280"/>
            <a:ext cx="10728655" cy="68580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715000"/>
            <a:ext cx="10424160" cy="594360"/>
          </a:xfrm>
          <a:prstGeom prst="rect">
            <a:avLst/>
          </a:prstGeom>
          <a:noFill/>
        </p:spPr>
        <p:txBody>
          <a:bodyPr wrap="none">
            <a:spAutoFit/>
          </a:bodyPr>
          <a:lstStyle/>
          <a:p>
            <a:pPr>
              <a:defRPr b="1" sz="1100">
                <a:solidFill>
                  <a:srgbClr val="1A365D"/>
                </a:solidFill>
              </a:defRPr>
            </a:pPr>
            <a:r>
              <a:t>Veredito de Engenharia: </a:t>
            </a:r>
            <a:r>
              <a:rPr b="0">
                <a:solidFill>
                  <a:srgbClr val="2D3748"/>
                </a:solidFill>
              </a:rPr>
              <a:t>O Multilingual-E5-Large (ONNX INT8) entrega 107 ms e alta precisão diretamente na CPU, tornando dispensável qualquer investimento em aceleradores gráficos para o servidor de produção.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Estratégias Complementares e Limites de Re-ranking na CPU</a:t>
            </a:r>
          </a:p>
        </p:txBody>
      </p:sp>
      <p:sp>
        <p:nvSpPr>
          <p:cNvPr id="4" name="Rounded Rectangle 3"/>
          <p:cNvSpPr/>
          <p:nvPr/>
        </p:nvSpPr>
        <p:spPr>
          <a:xfrm>
            <a:off x="731520" y="1417320"/>
            <a:ext cx="5212080" cy="411480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4937760" cy="3931920"/>
          </a:xfrm>
          <a:prstGeom prst="rect">
            <a:avLst/>
          </a:prstGeom>
          <a:noFill/>
        </p:spPr>
        <p:txBody>
          <a:bodyPr wrap="square">
            <a:spAutoFit/>
          </a:bodyPr>
          <a:lstStyle/>
          <a:p>
            <a:pPr>
              <a:defRPr b="1" sz="1300">
                <a:solidFill>
                  <a:srgbClr val="1A365D"/>
                </a:solidFill>
              </a:defRPr>
            </a:pPr>
            <a:r>
              <a:t>Limites de Engenharia: Descarte de SLMs na CPU</a:t>
            </a:r>
          </a:p>
          <a:p>
            <a:pPr>
              <a:spcBef>
                <a:spcPts val="600"/>
              </a:spcBef>
              <a:defRPr b="1" sz="1100">
                <a:solidFill>
                  <a:srgbClr val="2B6CB0"/>
                </a:solidFill>
              </a:defRPr>
            </a:pPr>
            <a:r>
              <a:t>Por que SLMs Foram Descartados na CPU: </a:t>
            </a:r>
            <a:r>
              <a:rPr b="0">
                <a:solidFill>
                  <a:srgbClr val="2D3748"/>
                </a:solidFill>
              </a:rPr>
              <a:t>Modelos generativos de 4B e 8B (Qwen3-Reranker) exigem de 20s a 40s por consulta na CPU pura, sendo inviáveis para tempo real.</a:t>
            </a:r>
          </a:p>
          <a:p>
            <a:pPr>
              <a:spcBef>
                <a:spcPts val="800"/>
              </a:spcBef>
              <a:defRPr b="1" sz="1100">
                <a:solidFill>
                  <a:srgbClr val="2B6CB0"/>
                </a:solidFill>
              </a:defRPr>
            </a:pPr>
            <a:r>
              <a:t>Sobrecarga de Processamento: </a:t>
            </a:r>
            <a:r>
              <a:rPr b="0">
                <a:solidFill>
                  <a:srgbClr val="2D3748"/>
                </a:solidFill>
              </a:rPr>
              <a:t>A CPU corporativa pura sofre com o cálculo intensivo de atenção autorregressiva, gerando enfileiramento inaceitável.</a:t>
            </a:r>
          </a:p>
          <a:p>
            <a:pPr>
              <a:spcBef>
                <a:spcPts val="800"/>
              </a:spcBef>
              <a:defRPr b="1" sz="1100">
                <a:solidFill>
                  <a:srgbClr val="2B6CB0"/>
                </a:solidFill>
              </a:defRPr>
            </a:pPr>
            <a:r>
              <a:t>Foco em Eficiência Submétrica: </a:t>
            </a:r>
            <a:r>
              <a:rPr b="0">
                <a:solidFill>
                  <a:srgbClr val="2D3748"/>
                </a:solidFill>
              </a:rPr>
              <a:t>A arquitetura recomendada descarta SLMs no caminho crítico de consulta para assegurar tempo de resposta sob controle.</a:t>
            </a:r>
          </a:p>
        </p:txBody>
      </p:sp>
      <p:sp>
        <p:nvSpPr>
          <p:cNvPr id="6" name="Rounded Rectangle 5"/>
          <p:cNvSpPr/>
          <p:nvPr/>
        </p:nvSpPr>
        <p:spPr>
          <a:xfrm>
            <a:off x="6248095" y="1417320"/>
            <a:ext cx="5212080" cy="411480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5255" y="1508760"/>
            <a:ext cx="4937760" cy="3931920"/>
          </a:xfrm>
          <a:prstGeom prst="rect">
            <a:avLst/>
          </a:prstGeom>
          <a:noFill/>
        </p:spPr>
        <p:txBody>
          <a:bodyPr wrap="square">
            <a:spAutoFit/>
          </a:bodyPr>
          <a:lstStyle/>
          <a:p>
            <a:pPr>
              <a:defRPr b="1" sz="1300">
                <a:solidFill>
                  <a:srgbClr val="1A365D"/>
                </a:solidFill>
              </a:defRPr>
            </a:pPr>
            <a:r>
              <a:t>Estratégias Complementares Homologadas na CPU</a:t>
            </a:r>
          </a:p>
          <a:p>
            <a:pPr>
              <a:spcBef>
                <a:spcPts val="600"/>
              </a:spcBef>
              <a:defRPr b="1" sz="1100">
                <a:solidFill>
                  <a:srgbClr val="2B6CB0"/>
                </a:solidFill>
              </a:defRPr>
            </a:pPr>
            <a:r>
              <a:t>Busca Híbrida Leve (Altamente Recomendada) 🥇: </a:t>
            </a:r>
            <a:r>
              <a:rPr b="0">
                <a:solidFill>
                  <a:srgbClr val="2D3748"/>
                </a:solidFill>
              </a:rPr>
              <a:t>Fusão densa (E5-Large ONNX) + léxica (BM25) via Reciprocal Rank Fusion (RRF). Captura códigos de falha e peças com latência adicional de apenas +5 ms na CPU (~112 ms total).</a:t>
            </a:r>
          </a:p>
          <a:p>
            <a:pPr>
              <a:spcBef>
                <a:spcPts val="800"/>
              </a:spcBef>
              <a:defRPr b="1" sz="1100">
                <a:solidFill>
                  <a:srgbClr val="2B6CB0"/>
                </a:solidFill>
              </a:defRPr>
            </a:pPr>
            <a:r>
              <a:t>Opção com Re-ranking Neural Leve ⚡: </a:t>
            </a:r>
            <a:r>
              <a:rPr b="0">
                <a:solidFill>
                  <a:srgbClr val="2D3748"/>
                </a:solidFill>
              </a:rPr>
              <a:t>Cross-Encoder BGE-Reranker-v2-m3 (ONNX INT8) restrito a pool pequeno (K_cand = 5 nós). Atinge ~1.5s a 1.8s na CPU com consumo &lt; 2.5 GB RAM.</a:t>
            </a:r>
          </a:p>
          <a:p>
            <a:pPr>
              <a:spcBef>
                <a:spcPts val="800"/>
              </a:spcBef>
              <a:defRPr b="1" sz="1100">
                <a:solidFill>
                  <a:srgbClr val="2B6CB0"/>
                </a:solidFill>
              </a:defRPr>
            </a:pPr>
            <a:r>
              <a:t>Sustentabilidade Operacional: </a:t>
            </a:r>
            <a:r>
              <a:rPr b="0">
                <a:solidFill>
                  <a:srgbClr val="2D3748"/>
                </a:solidFill>
              </a:rPr>
              <a:t>Ambas as soluções mantêm a premissa de zero investimento em placas aceleradoras.</a:t>
            </a:r>
          </a:p>
        </p:txBody>
      </p:sp>
      <p:sp>
        <p:nvSpPr>
          <p:cNvPr id="8" name="Rounded Rectangle 7"/>
          <p:cNvSpPr/>
          <p:nvPr/>
        </p:nvSpPr>
        <p:spPr>
          <a:xfrm>
            <a:off x="731520" y="5669280"/>
            <a:ext cx="10728655" cy="68580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715000"/>
            <a:ext cx="10424160" cy="594360"/>
          </a:xfrm>
          <a:prstGeom prst="rect">
            <a:avLst/>
          </a:prstGeom>
          <a:noFill/>
        </p:spPr>
        <p:txBody>
          <a:bodyPr wrap="none">
            <a:spAutoFit/>
          </a:bodyPr>
          <a:lstStyle/>
          <a:p>
            <a:pPr>
              <a:defRPr b="1" sz="1100">
                <a:solidFill>
                  <a:srgbClr val="1A365D"/>
                </a:solidFill>
              </a:defRPr>
            </a:pPr>
            <a:r>
              <a:t>Recomendação Final: </a:t>
            </a:r>
            <a:r>
              <a:rPr b="0">
                <a:solidFill>
                  <a:srgbClr val="2D3748"/>
                </a:solidFill>
              </a:rPr>
              <a:t>A Busca Híbrida (E5-Large ONNX + BM25) fornece o melhor equilíbrio na CPU da CM Comandos: máxima cobertura léxica e semântica com latência de apenas ~112 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100" b="1">
                <a:solidFill>
                  <a:srgbClr val="2B6CB0"/>
                </a:solidFill>
              </a:defRPr>
            </a:pPr>
            <a:r>
              <a:t>RAG INDUSTRIAL EM MANUAIS TÉCNICOS — PESQUISA ICT</a:t>
            </a:r>
          </a:p>
        </p:txBody>
      </p:sp>
      <p:sp>
        <p:nvSpPr>
          <p:cNvPr id="3" name="TextBox 2"/>
          <p:cNvSpPr txBox="1"/>
          <p:nvPr/>
        </p:nvSpPr>
        <p:spPr>
          <a:xfrm>
            <a:off x="731520" y="658368"/>
            <a:ext cx="10728655" cy="685800"/>
          </a:xfrm>
          <a:prstGeom prst="rect">
            <a:avLst/>
          </a:prstGeom>
          <a:noFill/>
        </p:spPr>
        <p:txBody>
          <a:bodyPr wrap="square">
            <a:spAutoFit/>
          </a:bodyPr>
          <a:lstStyle/>
          <a:p>
            <a:pPr>
              <a:defRPr sz="2100" b="1">
                <a:solidFill>
                  <a:srgbClr val="1A365D"/>
                </a:solidFill>
              </a:defRPr>
            </a:pPr>
            <a:r>
              <a:t>Impacto do Projeto de ICT e Próximos Passos</a:t>
            </a:r>
          </a:p>
        </p:txBody>
      </p:sp>
      <p:sp>
        <p:nvSpPr>
          <p:cNvPr id="4" name="TextBox 3"/>
          <p:cNvSpPr txBox="1"/>
          <p:nvPr/>
        </p:nvSpPr>
        <p:spPr>
          <a:xfrm>
            <a:off x="731520" y="1417320"/>
            <a:ext cx="10728655" cy="5029200"/>
          </a:xfrm>
          <a:prstGeom prst="rect">
            <a:avLst/>
          </a:prstGeom>
          <a:noFill/>
        </p:spPr>
        <p:txBody>
          <a:bodyPr wrap="square">
            <a:spAutoFit/>
          </a:bodyPr>
          <a:lstStyle/>
          <a:p>
            <a:pPr>
              <a:spcBef>
                <a:spcPts val="600"/>
              </a:spcBef>
              <a:defRPr b="1" sz="1200">
                <a:solidFill>
                  <a:srgbClr val="2B6CB0"/>
                </a:solidFill>
              </a:defRPr>
            </a:pPr>
            <a:r>
              <a:t>Quebra de Paradigma Tecnológico: </a:t>
            </a:r>
            <a:r>
              <a:rPr b="0">
                <a:solidFill>
                  <a:srgbClr val="2D3748"/>
                </a:solidFill>
              </a:rPr>
              <a:t>Comprovação empírica e com rigor estatístico (Wilcoxon p &lt; 0.05) de que modelos abertos locais superam soluções comerciais proprietárias em tarefas técnicas de recuperação de informação eletrotécnica.</a:t>
            </a:r>
          </a:p>
          <a:p>
            <a:pPr>
              <a:spcBef>
                <a:spcPts val="1000"/>
              </a:spcBef>
              <a:defRPr b="1" sz="1200">
                <a:solidFill>
                  <a:srgbClr val="2B6CB0"/>
                </a:solidFill>
              </a:defRPr>
            </a:pPr>
            <a:r>
              <a:t>Viabilidade Comprovada em CPU Corporativa: </a:t>
            </a:r>
            <a:r>
              <a:rPr b="0">
                <a:solidFill>
                  <a:srgbClr val="2D3748"/>
                </a:solidFill>
              </a:rPr>
              <a:t>Demonstração prática de que o pipeline Multilingual-E5-Large em ONNX INT8 opera em apenas 107 ms na CPU pura (&lt; 1.5 GB RAM), eliminando a necessidade de investimento em GPUs dedicadas.</a:t>
            </a:r>
          </a:p>
          <a:p>
            <a:pPr>
              <a:spcBef>
                <a:spcPts val="1000"/>
              </a:spcBef>
              <a:defRPr b="1" sz="1200">
                <a:solidFill>
                  <a:srgbClr val="2B6CB0"/>
                </a:solidFill>
              </a:defRPr>
            </a:pPr>
            <a:r>
              <a:t>Soberania de Dados e Custo Zero Recorrente: </a:t>
            </a:r>
            <a:r>
              <a:rPr b="0">
                <a:solidFill>
                  <a:srgbClr val="2D3748"/>
                </a:solidFill>
              </a:rPr>
              <a:t>Eliminação total de custos recorrentes de APIs comerciais e blindagem estrita de segredos industriais e manuais confidenciais de no-breaks.</a:t>
            </a:r>
          </a:p>
          <a:p>
            <a:pPr>
              <a:spcBef>
                <a:spcPts val="1000"/>
              </a:spcBef>
              <a:defRPr b="1" sz="1200">
                <a:solidFill>
                  <a:srgbClr val="2B6CB0"/>
                </a:solidFill>
              </a:defRPr>
            </a:pPr>
            <a:r>
              <a:t>Próxima Etapa: Otimização e Validação em CPU: </a:t>
            </a:r>
            <a:r>
              <a:rPr b="0">
                <a:solidFill>
                  <a:srgbClr val="2D3748"/>
                </a:solidFill>
              </a:rPr>
              <a:t>Testes de concorrência e carga do pipeline E5-Large ONNX + BM25 na infraestrutura de servidores da CM Comandos Lineares.</a:t>
            </a:r>
          </a:p>
          <a:p>
            <a:pPr>
              <a:spcBef>
                <a:spcPts val="1000"/>
              </a:spcBef>
              <a:defRPr b="1" sz="1200">
                <a:solidFill>
                  <a:srgbClr val="2B6CB0"/>
                </a:solidFill>
              </a:defRPr>
            </a:pPr>
            <a:r>
              <a:t>Piloto Operacional Integrado: </a:t>
            </a:r>
            <a:r>
              <a:rPr b="0">
                <a:solidFill>
                  <a:srgbClr val="2D3748"/>
                </a:solidFill>
              </a:rPr>
              <a:t>Desenvolvimento de protótipo funcional para testes práticos pela equipe de assistência técnica e engenharia de suporte da CM Comandos Lineares.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645920"/>
            <a:ext cx="10362895" cy="4114800"/>
          </a:xfrm>
          <a:prstGeom prst="rect">
            <a:avLst/>
          </a:prstGeom>
          <a:noFill/>
        </p:spPr>
        <p:txBody>
          <a:bodyPr wrap="square">
            <a:spAutoFit/>
          </a:bodyPr>
          <a:lstStyle/>
          <a:p>
            <a:pPr>
              <a:defRPr sz="3200" b="1">
                <a:solidFill>
                  <a:srgbClr val="1A365D"/>
                </a:solidFill>
              </a:defRPr>
            </a:pPr>
            <a:r>
              <a:t>Perguntas &amp; Discussão Técnica</a:t>
            </a:r>
          </a:p>
          <a:p>
            <a:pPr>
              <a:spcBef>
                <a:spcPts val="1400"/>
              </a:spcBef>
              <a:defRPr sz="1800" b="1">
                <a:solidFill>
                  <a:srgbClr val="2B6CB0"/>
                </a:solidFill>
              </a:defRPr>
            </a:pPr>
            <a:r>
              <a:t>Avaliação Científica e Tecnológica de RAG Industrial (Retrieval &amp; Re-ranking)</a:t>
            </a:r>
          </a:p>
          <a:p>
            <a:pPr>
              <a:spcBef>
                <a:spcPts val="2400"/>
              </a:spcBef>
              <a:defRPr sz="1200">
                <a:solidFill>
                  <a:srgbClr val="718096"/>
                </a:solidFill>
              </a:defRPr>
            </a:pPr>
            <a:r>
              <a:t>Autor: João Messias Lima Pereira  |  Projeto de Pesquisa Científica e Tecnológica (ICT)</a:t>
            </a:r>
            <a:br/>
            <a:r>
              <a:t>Hardware de Referência: Intel Core Ultra 7 (CPU) &amp; NVIDIA RTX PRO 1000 (8 GB GDDR6)  |  CM Comandos Lineares</a:t>
            </a:r>
            <a:br/>
            <a:br/>
            <a:r>
              <a:t>Repositório de dados, pipelines e relatórios técnicos disponíveis para replicação aberta.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