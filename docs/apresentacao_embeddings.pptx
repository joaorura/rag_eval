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Avaliação Comparativa de Modelos de Embedding</a:t>
            </a:r>
          </a:p>
          <a:p>
            <a:pPr>
              <a:spcBef>
                <a:spcPts val="1400"/>
              </a:spcBef>
              <a:defRPr sz="1800">
                <a:solidFill>
                  <a:srgbClr val="2B6CB0"/>
                </a:solidFill>
              </a:defRPr>
            </a:pPr>
            <a:r>
              <a:t>Recuperação de Informação Técnica de Nobreaks: Baseline OpenAI vs. Modelos Locais Quantizados em 4-bit (Q4_K_M)</a:t>
            </a:r>
          </a:p>
          <a:p>
            <a:pPr>
              <a:spcBef>
                <a:spcPts val="2800"/>
              </a:spcBef>
              <a:defRPr sz="1300">
                <a:solidFill>
                  <a:srgbClr val="718096"/>
                </a:solidFill>
              </a:defRPr>
            </a:pPr>
            <a:r>
              <a:t>Autor: João Vitor Rura  |  Projeto de Pesquisa Científica e Tecnológica (ICT)</a:t>
            </a:r>
            <a:br/>
            <a:r>
              <a:t>Hardware: NVIDIA RTX PRO 1000 Laptop GPU (8 GB GDDR6)  |  Setembro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6CB0"/>
                </a:solidFill>
              </a:defRPr>
            </a:pPr>
            <a:r>
              <a:t>AVALIAÇÃO DE EMBEDDINGS RAG INDUSTRIAL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Objetivos e Formalização da Hipótese H1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Objetivo Central: </a:t>
            </a:r>
            <a:r>
              <a:rPr b="0">
                <a:solidFill>
                  <a:srgbClr val="2D3748"/>
                </a:solidFill>
              </a:rPr>
              <a:t>Validar a substituição de modelos de embedding comerciais proprietários (OpenAI text-embedding-3-small) por modelos abertos locais operando em quantização 4-bit (Q4_K_M) em GPU de 8 GB.</a:t>
            </a:r>
          </a:p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Hipótese Alternativa (H1): </a:t>
            </a:r>
            <a:r>
              <a:rPr b="0">
                <a:solidFill>
                  <a:srgbClr val="2D3748"/>
                </a:solidFill>
              </a:rPr>
              <a:t>Pelo menos um modelo aberto local quantizado em Q4_K_M retém ≥ 85% do desempenho do baseline comercial em ≥ 2 métricas de IR no ponto de corte Top-5 (Hit Rate@5, MRR@5, Recall@5, MAP@5).</a:t>
            </a:r>
          </a:p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Critérios Estatísticos: </a:t>
            </a:r>
            <a:r>
              <a:rPr b="0">
                <a:solidFill>
                  <a:srgbClr val="2D3748"/>
                </a:solidFill>
              </a:rPr>
              <a:t>Aplicação do teste não-paramétrico pareado de Wilcoxon (alpha=0.05) para avaliação de equivalência ou superioridade, complementado por intervalos de confiança Bootstrap de 95% (B=1.000).</a:t>
            </a:r>
          </a:p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Garantias de Engenharia: </a:t>
            </a:r>
            <a:r>
              <a:rPr b="0">
                <a:solidFill>
                  <a:srgbClr val="2D3748"/>
                </a:solidFill>
              </a:rPr>
              <a:t>Custo zero de chamadas de API, latência inferior a 100 ms por consulta e soberania absoluta de dados industriais sensíveis da CM Comandos.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6CB0"/>
                </a:solidFill>
              </a:defRPr>
            </a:pPr>
            <a:r>
              <a:t>AVALIAÇÃO DE EMBEDDINGS RAG INDUSTRIAL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Resultados Consolidados no Top-5 (K=5)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337310"/>
                <a:gridCol w="1337310"/>
                <a:gridCol w="1337310"/>
                <a:gridCol w="1337310"/>
                <a:gridCol w="1337310"/>
                <a:gridCol w="1337310"/>
                <a:gridCol w="133731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365D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365D"/>
                          </a:solidFill>
                        </a:defRPr>
                      </a:pPr>
                      <a:r>
                        <a:t>Quant.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365D"/>
                          </a:solidFill>
                        </a:defRPr>
                      </a:pPr>
                      <a:r>
                        <a:t>Dim.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365D"/>
                          </a:solidFill>
                        </a:defRPr>
                      </a:pPr>
                      <a:r>
                        <a:t>HR@5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365D"/>
                          </a:solidFill>
                        </a:defRPr>
                      </a:pPr>
                      <a:r>
                        <a:t>MRR@5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365D"/>
                          </a:solidFill>
                        </a:defRPr>
                      </a:pPr>
                      <a:r>
                        <a:t>Recall@5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365D"/>
                          </a:solidFill>
                        </a:defRPr>
                      </a:pPr>
                      <a:r>
                        <a:t>Latência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365D"/>
                          </a:solidFill>
                        </a:defRPr>
                      </a:pPr>
                      <a:r>
                        <a:t>Wilcoxon p (MRR)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multilingual_e5_large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FP16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0.5469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0.4031 (1º)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22.88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 = 0.5217 (Equiv.)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qwen3_8b_q4km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B6CB0"/>
                          </a:solidFill>
                        </a:defRPr>
                      </a:pPr>
                      <a:r>
                        <a:t>Q4_K_M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0.5703 (1º)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0.3887 (2º)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0.5311 (1º)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57.06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 = 0.9336 (Equiv.)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qwen3_4b_q4km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B6CB0"/>
                          </a:solidFill>
                        </a:defRPr>
                      </a:pPr>
                      <a:r>
                        <a:t>Q4_K_M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35.98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 = 0.9565 (Equiv.)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openai_3_small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FP16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415.07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 (Baseline)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bge_m3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FP16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0.4673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167.30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 = 0.8273 (Equiv.)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nomic_embed_text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B6CB0"/>
                          </a:solidFill>
                        </a:defRPr>
                      </a:pPr>
                      <a:r>
                        <a:t>Q4_K_M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9.78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 = 0.0142* (Inferior)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bertimbau_sts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FP16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35.67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 = 0.0008* (Inferior)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6CB0"/>
                </a:solidFill>
              </a:defRPr>
            </a:pPr>
            <a:r>
              <a:t>AVALIAÇÃO DE EMBEDDINGS RAG INDUSTRIAL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Eficácia de Recuperação: MRR@5 vs. Hit Rate@5</a:t>
            </a:r>
          </a:p>
        </p:txBody>
      </p:sp>
      <p:pic>
        <p:nvPicPr>
          <p:cNvPr id="4" name="Picture 3" descr="ranking_hitrate_mrr_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6459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Liderança de MRR: </a:t>
            </a:r>
            <a:r>
              <a:rPr b="0">
                <a:solidFill>
                  <a:srgbClr val="2D3748"/>
                </a:solidFill>
              </a:rPr>
              <a:t>multilingual-e5-large alcançou o maior MRR@5 (0.4031), seguido pelo Qwen3-8B Q4_K_M (0.3887).</a:t>
            </a:r>
          </a:p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Liderança de Hit Rate: </a:t>
            </a:r>
            <a:r>
              <a:rPr b="0">
                <a:solidFill>
                  <a:srgbClr val="2D3748"/>
                </a:solidFill>
              </a:rPr>
              <a:t>Qwen3-8B Q4_K_M obteve a maior cobertura de nós relevantes (57.03%), superando a OpenAI (46.88%).</a:t>
            </a:r>
          </a:p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Validação H1: </a:t>
            </a:r>
            <a:r>
              <a:rPr b="0">
                <a:solidFill>
                  <a:srgbClr val="2D3748"/>
                </a:solidFill>
              </a:rPr>
              <a:t>Ambos os modelos Qwen3 Q4_K_M superaram o baseline OpenAI em HR@5 e MRR@5.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6CB0"/>
                </a:solidFill>
              </a:defRPr>
            </a:pPr>
            <a:r>
              <a:t>AVALIAÇÃO DE EMBEDDINGS RAG INDUSTRIAL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Curva de Evolução do Recall por Nível de Top-K</a:t>
            </a:r>
          </a:p>
        </p:txBody>
      </p:sp>
      <p:pic>
        <p:nvPicPr>
          <p:cNvPr id="4" name="Picture 3" descr="curva_recuperacao_to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563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6459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Padrão de Cobertura: </a:t>
            </a:r>
            <a:r>
              <a:rPr b="0">
                <a:solidFill>
                  <a:srgbClr val="2D3748"/>
                </a:solidFill>
              </a:rPr>
              <a:t>A evolução K=2 -&gt; K=5 -&gt; K=10 mostra separação clara em 3 clusters distintos de capacidade.</a:t>
            </a:r>
          </a:p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Cluster de Alta Eficácia: </a:t>
            </a:r>
            <a:r>
              <a:rPr b="0">
                <a:solidFill>
                  <a:srgbClr val="2D3748"/>
                </a:solidFill>
              </a:rPr>
              <a:t>E5-Large, Qwen3-8B, Qwen3-4B e BGE-M3 formam o grupo de elite com Recall@10 atingindo 56% a 60%.</a:t>
            </a:r>
          </a:p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OpenAI no Ponto Médio: </a:t>
            </a:r>
            <a:r>
              <a:rPr b="0">
                <a:solidFill>
                  <a:srgbClr val="2D3748"/>
                </a:solidFill>
              </a:rPr>
              <a:t>O modelo da OpenAI estabiliza em 48% de Recall@10, sendo ultrapassado pelos modelos abertos locais.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6CB0"/>
                </a:solidFill>
              </a:defRPr>
            </a:pPr>
            <a:r>
              <a:t>AVALIAÇÃO DE EMBEDDINGS RAG INDUSTRIAL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Trade-off de Engenharia: Eficiência (ms) vs. Eficácia (MRR@5)</a:t>
            </a:r>
          </a:p>
        </p:txBody>
      </p:sp>
      <p:pic>
        <p:nvPicPr>
          <p:cNvPr id="4" name="Picture 3" descr="tradeoff_latencia_m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6459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Quadrante Ótimo: </a:t>
            </a:r>
            <a:r>
              <a:rPr b="0">
                <a:solidFill>
                  <a:srgbClr val="2D3748"/>
                </a:solidFill>
              </a:rPr>
              <a:t>Modelos no canto superior esquerdo combinam alta eficácia semântica e latência extremamente reduzida.</a:t>
            </a:r>
          </a:p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Ganho de Velocidade: </a:t>
            </a:r>
            <a:r>
              <a:rPr b="0">
                <a:solidFill>
                  <a:srgbClr val="2D3748"/>
                </a:solidFill>
              </a:rPr>
              <a:t>Qwen3-4B Q4_K_M é 11.5x mais rápido que a OpenAI (36 ms vs. 415 ms) devido à ausência de overhead de rede.</a:t>
            </a:r>
          </a:p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Nomic Ultraleve: </a:t>
            </a:r>
            <a:r>
              <a:rPr b="0">
                <a:solidFill>
                  <a:srgbClr val="2D3748"/>
                </a:solidFill>
              </a:rPr>
              <a:t>Alcança 9.8 ms/query, mas sofre perda acentuada de MRR (0.3021 vs. 0.3840).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6CB0"/>
                </a:solidFill>
              </a:defRPr>
            </a:pPr>
            <a:r>
              <a:t>AVALIAÇÃO DE EMBEDDINGS RAG INDUSTRIAL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Conclusões e Recomendações de Engenharia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Confirmação Plena da Hipótese H1: </a:t>
            </a:r>
            <a:r>
              <a:rPr b="0">
                <a:solidFill>
                  <a:srgbClr val="2D3748"/>
                </a:solidFill>
              </a:rPr>
              <a:t>Os modelos locais quantizados em 4 bits (Q4_K_M) não apenas atingiram 85% do baseline OpenAI, como o superaram em Hit Rate, Recall e MRR com equivalência estatística comprovada (Wilcoxon p &gt; 0.90).</a:t>
            </a:r>
          </a:p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Sweet Spot da Quantização: </a:t>
            </a:r>
            <a:r>
              <a:rPr b="0">
                <a:solidFill>
                  <a:srgbClr val="2D3748"/>
                </a:solidFill>
              </a:rPr>
              <a:t>A escala de parâmetros (7.6B e 4.0B) compensa plenamente a quantização em 4 bits, mantendo a geometria esférica do espaço vetorial para termos técnicos de engenharia de nobreaks.</a:t>
            </a:r>
          </a:p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Recomendação para Produção na CM Comandos: </a:t>
            </a:r>
            <a:r>
              <a:rPr b="0">
                <a:solidFill>
                  <a:srgbClr val="2D3748"/>
                </a:solidFill>
              </a:rPr>
              <a:t>Adotar o Qwen3-4B Q4_K_M (para deploy unificado no Ollama com 2.9 GB VRAM e 36 ms de latência) ou o Multilingual-E5-Large (para maximização de MRR com 22.9 ms).</a:t>
            </a:r>
          </a:p>
          <a:p>
            <a:pPr>
              <a:spcBef>
                <a:spcPts val="1000"/>
              </a:spcBef>
              <a:defRPr b="1" sz="1300">
                <a:solidFill>
                  <a:srgbClr val="2B6CB0"/>
                </a:solidFill>
              </a:defRPr>
            </a:pPr>
            <a:r>
              <a:t>Impacto Corporativo: </a:t>
            </a:r>
            <a:r>
              <a:rPr b="0">
                <a:solidFill>
                  <a:srgbClr val="2D3748"/>
                </a:solidFill>
              </a:rPr>
              <a:t>Custo zero recorrente de API, latência até 11.5x menor e garantia absoluta de confidencialidade industrial sobre esquemáticos e manuais proprietários.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