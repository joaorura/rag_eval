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A365D"/>
                </a:solidFill>
              </a:defRPr>
            </a:pPr>
            <a:r>
              <a:t>Avaliação de Re-ranking Neural em Dois Estágios (Two-Stage RAG)</a:t>
            </a:r>
          </a:p>
          <a:p>
            <a:pPr>
              <a:spcBef>
                <a:spcPts val="1200"/>
              </a:spcBef>
              <a:defRPr sz="1800">
                <a:solidFill>
                  <a:srgbClr val="2B6CB0"/>
                </a:solidFill>
              </a:defRPr>
            </a:pPr>
            <a:r>
              <a:t>Otimização da Precisão em Manuais Industriais com Modelos Locais Quantizados</a:t>
            </a:r>
          </a:p>
          <a:p>
            <a:pPr>
              <a:spcBef>
                <a:spcPts val="2400"/>
              </a:spcBef>
              <a:defRPr sz="1300">
                <a:solidFill>
                  <a:srgbClr val="718096"/>
                </a:solidFill>
              </a:defRPr>
            </a:pPr>
            <a:r>
              <a:t>Hardware: NVIDIA RTX PRO 1000 (8 GB GDDR6) | Estudo de Caso: 16 Manuais CM Comandos Lineares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RE-RANKING NEURAL (TWO-STAGE RAG) — TCC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1. Motivação e Arquitetura Two-Stage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Desafio Técnico: </a:t>
            </a:r>
            <a:r>
              <a:rPr b="0">
                <a:solidFill>
                  <a:srgbClr val="1A202C"/>
                </a:solidFill>
              </a:rPr>
              <a:t>Jargão eletrotécnico denso (bypass estático, retificador tiristorizado, VRLA) exige atenção fina entre tokens.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Arquitetura Two-Stage: </a:t>
            </a:r>
            <a:r>
              <a:rPr b="0">
                <a:solidFill>
                  <a:srgbClr val="1A202C"/>
                </a:solidFill>
              </a:rPr>
              <a:t>O 1º estágio recupera 20 candidatos (alta revocação); o 2º estágio reordena com atenção cruzada profunda.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Objetivo Central: </a:t>
            </a:r>
            <a:r>
              <a:rPr b="0">
                <a:solidFill>
                  <a:srgbClr val="1A202C"/>
                </a:solidFill>
              </a:rPr>
              <a:t>Demonstrar que modelos locais quantizados (Q4_K_M / Q5_K_M) superam APIs comerciais com custo financeiro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RE-RANKING NEURAL (TWO-STAGE RAG) — TCC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2. Matriz Experimental de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1º Estágio (Dense Embeddings): </a:t>
            </a:r>
            <a:r>
              <a:rPr b="0">
                <a:solidFill>
                  <a:srgbClr val="1A202C"/>
                </a:solidFill>
              </a:rPr>
              <a:t>Top-2 do benchmark prévio: Qwen3-Embedding-8B (Q4_K_M) e Multilingual-E5-Large (FP16).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2º Estágio - SLMs Quantizados: </a:t>
            </a:r>
            <a:r>
              <a:rPr b="0">
                <a:solidFill>
                  <a:srgbClr val="1A202C"/>
                </a:solidFill>
              </a:rPr>
              <a:t>Qwen3-Reranker-4B (Q4_K_M) e Qwen3-Reranker-8B (Q5_K_M) via Ollama com logprob softmax binário.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2º Estágio - Cross-Encoder Local: </a:t>
            </a:r>
            <a:r>
              <a:rPr b="0">
                <a:solidFill>
                  <a:srgbClr val="1A202C"/>
                </a:solidFill>
              </a:rPr>
              <a:t>BAAI/bge-reranker-v2-m3 (HuggingFace PyTorch, ~1.2 GB VRAM).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2º Estágio - Baseline Comercial: </a:t>
            </a:r>
            <a:r>
              <a:rPr b="0">
                <a:solidFill>
                  <a:srgbClr val="1A202C"/>
                </a:solidFill>
              </a:rPr>
              <a:t>RankGPT baseado em OpenAI gpt-4o-mini (Prompt listwise via API).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RE-RANKING NEURAL (TWO-STAGE RAG) — TCC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3. Impacto no Top-5: MRR@5 vs. Hit Rate@5</a:t>
            </a:r>
          </a:p>
        </p:txBody>
      </p:sp>
      <p:pic>
        <p:nvPicPr>
          <p:cNvPr id="4" name="Picture 3" descr="ranking_rerankers_mrr_hr_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7132320" cy="2657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Salto em MRR@5: </a:t>
            </a:r>
            <a:r>
              <a:rPr b="0">
                <a:solidFill>
                  <a:srgbClr val="1A202C"/>
                </a:solidFill>
              </a:rPr>
              <a:t>Elevação de 0.3887 para 0.5029 (+29.4%) na base Qwen3-8B.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Resgate de Relevantes: </a:t>
            </a:r>
            <a:r>
              <a:rPr b="0">
                <a:solidFill>
                  <a:srgbClr val="1A202C"/>
                </a:solidFill>
              </a:rPr>
              <a:t>Hit Rate@5 atingiu 62.5% (+7.8 p.p.) com Qwen3-4B.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Top Performer: </a:t>
            </a:r>
            <a:r>
              <a:rPr b="0">
                <a:solidFill>
                  <a:srgbClr val="1A202C"/>
                </a:solidFill>
              </a:rPr>
              <a:t>Qwen3-8B Q5_K_M entregou o maior MRR@5 absoluto (0.5029).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RE-RANKING NEURAL (TWO-STAGE RAG) — TCC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4. Ganhos Incrementais: Modelos Locais Superam RankGPT</a:t>
            </a:r>
          </a:p>
        </p:txBody>
      </p:sp>
      <p:pic>
        <p:nvPicPr>
          <p:cNvPr id="4" name="Picture 3" descr="delta_mrr5_reran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7132320" cy="319347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OpenAI Superada: </a:t>
            </a:r>
            <a:r>
              <a:rPr b="0">
                <a:solidFill>
                  <a:srgbClr val="1A202C"/>
                </a:solidFill>
              </a:rPr>
              <a:t>RankGPT obteve +0.0776, enquanto Qwen3-4B (+0.0852), BGE (+0.0979) e Qwen3-8B (+0.1142) foram superiores.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Por que vencem?: </a:t>
            </a:r>
            <a:r>
              <a:rPr b="0">
                <a:solidFill>
                  <a:srgbClr val="1A202C"/>
                </a:solidFill>
              </a:rPr>
              <a:t>Modelos dedicados a passage-ranking superam a ordenação por prompt genérico.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RE-RANKING NEURAL (TWO-STAGE RAG) — TCC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5. Trade-off de Engenharia: Acurácia vs. Latência</a:t>
            </a:r>
          </a:p>
        </p:txBody>
      </p:sp>
      <p:pic>
        <p:nvPicPr>
          <p:cNvPr id="4" name="Picture 3" descr="tradeoff_latencia_mrr_rerank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645920"/>
            <a:ext cx="7132320" cy="41938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6459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Sweet Spot Latência: </a:t>
            </a:r>
            <a:r>
              <a:rPr b="0">
                <a:solidFill>
                  <a:srgbClr val="1A202C"/>
                </a:solidFill>
              </a:rPr>
              <a:t>BGE-Reranker-v2-m3 adiciona apenas 1.14s por consulta na GPU.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Sweet Spot Cobertura: </a:t>
            </a:r>
            <a:r>
              <a:rPr b="0">
                <a:solidFill>
                  <a:srgbClr val="1A202C"/>
                </a:solidFill>
              </a:rPr>
              <a:t>Qwen3-4B Q4_K_M atinge 62.5% de HR@5 com 5.1s de latência.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SLA Industrial: </a:t>
            </a:r>
            <a:r>
              <a:rPr b="0">
                <a:solidFill>
                  <a:srgbClr val="1A202C"/>
                </a:solidFill>
              </a:rPr>
              <a:t>BGE-v2-m3 viabiliza tempos de resposta abaixo de 1.5s ponta a ponta.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B6CB0"/>
                </a:solidFill>
              </a:defRPr>
            </a:pPr>
            <a:r>
              <a:t>AVALIAÇÃO DE RE-RANKING NEURAL (TWO-STAGE RAG) — TCC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6. Conclusões e Recomendação para a CM Comandos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Recomendação Produção: </a:t>
            </a:r>
            <a:r>
              <a:rPr b="0">
                <a:solidFill>
                  <a:srgbClr val="1A202C"/>
                </a:solidFill>
              </a:rPr>
              <a:t>Pipeline Híbrido: Multilingual-E5-Large (1º estágio) + BGE-Reranker-v2-m3 (2º estágio).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Vantagens Chave: </a:t>
            </a:r>
            <a:r>
              <a:rPr b="0">
                <a:solidFill>
                  <a:srgbClr val="1A202C"/>
                </a:solidFill>
              </a:rPr>
              <a:t>Latência total ~1.17s, VRAM total &lt; 2.5 GB, custo zero de API, soberania total dos dados.</a:t>
            </a:r>
          </a:p>
          <a:p>
            <a:pPr>
              <a:spcBef>
                <a:spcPts val="800"/>
              </a:spcBef>
              <a:defRPr b="1" sz="1300">
                <a:solidFill>
                  <a:srgbClr val="2B6CB0"/>
                </a:solidFill>
              </a:defRPr>
            </a:pPr>
            <a:r>
              <a:t>Cenário Máxima Precisão: </a:t>
            </a:r>
            <a:r>
              <a:rPr b="0">
                <a:solidFill>
                  <a:srgbClr val="1A202C"/>
                </a:solidFill>
              </a:rPr>
              <a:t>Qwen3-8B Q4_K_M + Qwen3-8B Q5_K_M atinge teto de MRR@5 = 0.5029.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